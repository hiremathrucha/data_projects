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ricolage Grotesque" panose="020B0604020202020204" charset="0"/>
      <p:regular r:id="rId15"/>
    </p:embeddedFont>
    <p:embeddedFont>
      <p:font typeface="Bricolage Grotesque Bold" panose="020B0604020202020204" charset="0"/>
      <p:regular r:id="rId16"/>
    </p:embeddedFont>
    <p:embeddedFont>
      <p:font typeface="Canva Sans Bold" panose="020B0604020202020204" charset="0"/>
      <p:regular r:id="rId17"/>
    </p:embeddedFont>
    <p:embeddedFont>
      <p:font typeface="Poppins" panose="00000500000000000000" pitchFamily="2" charset="0"/>
      <p:regular r:id="rId18"/>
    </p:embeddedFont>
    <p:embeddedFont>
      <p:font typeface="Poppi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2415882" cy="10287000"/>
            <a:chOff x="0" y="0"/>
            <a:chExt cx="636282" cy="2709333"/>
          </a:xfrm>
        </p:grpSpPr>
        <p:sp>
          <p:nvSpPr>
            <p:cNvPr id="3" name="Freeform 3"/>
            <p:cNvSpPr/>
            <p:nvPr/>
          </p:nvSpPr>
          <p:spPr>
            <a:xfrm>
              <a:off x="0" y="0"/>
              <a:ext cx="636282" cy="2709333"/>
            </a:xfrm>
            <a:custGeom>
              <a:avLst/>
              <a:gdLst/>
              <a:ahLst/>
              <a:cxnLst/>
              <a:rect l="l" t="t" r="r" b="b"/>
              <a:pathLst>
                <a:path w="636282" h="2709333">
                  <a:moveTo>
                    <a:pt x="0" y="0"/>
                  </a:moveTo>
                  <a:lnTo>
                    <a:pt x="636282" y="0"/>
                  </a:lnTo>
                  <a:lnTo>
                    <a:pt x="636282" y="2709333"/>
                  </a:lnTo>
                  <a:lnTo>
                    <a:pt x="0" y="2709333"/>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636282"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9326375" y="489746"/>
            <a:ext cx="8986922" cy="8978231"/>
          </a:xfrm>
          <a:custGeom>
            <a:avLst/>
            <a:gdLst/>
            <a:ahLst/>
            <a:cxnLst/>
            <a:rect l="l" t="t" r="r" b="b"/>
            <a:pathLst>
              <a:path w="10889735" h="11085191">
                <a:moveTo>
                  <a:pt x="0" y="0"/>
                </a:moveTo>
                <a:lnTo>
                  <a:pt x="10889734" y="0"/>
                </a:lnTo>
                <a:lnTo>
                  <a:pt x="10889734" y="11085192"/>
                </a:lnTo>
                <a:lnTo>
                  <a:pt x="0" y="11085192"/>
                </a:lnTo>
                <a:lnTo>
                  <a:pt x="0" y="0"/>
                </a:lnTo>
                <a:close/>
              </a:path>
            </a:pathLst>
          </a:custGeom>
          <a:blipFill>
            <a:blip r:embed="rId2"/>
            <a:stretch>
              <a:fillRect/>
            </a:stretch>
          </a:blipFill>
        </p:spPr>
      </p:sp>
      <p:sp>
        <p:nvSpPr>
          <p:cNvPr id="6" name="Freeform 6"/>
          <p:cNvSpPr/>
          <p:nvPr/>
        </p:nvSpPr>
        <p:spPr>
          <a:xfrm>
            <a:off x="839956" y="1028700"/>
            <a:ext cx="735971" cy="710546"/>
          </a:xfrm>
          <a:custGeom>
            <a:avLst/>
            <a:gdLst/>
            <a:ahLst/>
            <a:cxnLst/>
            <a:rect l="l" t="t" r="r" b="b"/>
            <a:pathLst>
              <a:path w="735971" h="710546">
                <a:moveTo>
                  <a:pt x="0" y="0"/>
                </a:moveTo>
                <a:lnTo>
                  <a:pt x="735970" y="0"/>
                </a:lnTo>
                <a:lnTo>
                  <a:pt x="735970" y="710546"/>
                </a:lnTo>
                <a:lnTo>
                  <a:pt x="0" y="71054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3320099" y="7330105"/>
            <a:ext cx="2772573" cy="1624271"/>
            <a:chOff x="0" y="0"/>
            <a:chExt cx="3696764" cy="2165694"/>
          </a:xfrm>
        </p:grpSpPr>
        <p:grpSp>
          <p:nvGrpSpPr>
            <p:cNvPr id="8" name="Group 8"/>
            <p:cNvGrpSpPr/>
            <p:nvPr/>
          </p:nvGrpSpPr>
          <p:grpSpPr>
            <a:xfrm>
              <a:off x="0" y="385418"/>
              <a:ext cx="134591" cy="13459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0" name="TextBox 10"/>
              <p:cNvSpPr txBox="1"/>
              <p:nvPr/>
            </p:nvSpPr>
            <p:spPr>
              <a:xfrm>
                <a:off x="76200" y="104775"/>
                <a:ext cx="660400" cy="631825"/>
              </a:xfrm>
              <a:prstGeom prst="rect">
                <a:avLst/>
              </a:prstGeom>
            </p:spPr>
            <p:txBody>
              <a:bodyPr lIns="50800" tIns="50800" rIns="50800" bIns="50800" rtlCol="0" anchor="ctr"/>
              <a:lstStyle/>
              <a:p>
                <a:pPr marL="0" lvl="0" indent="0" algn="ctr">
                  <a:lnSpc>
                    <a:spcPts val="1308"/>
                  </a:lnSpc>
                </a:pPr>
                <a:endParaRPr/>
              </a:p>
            </p:txBody>
          </p:sp>
        </p:grpSp>
        <p:sp>
          <p:nvSpPr>
            <p:cNvPr id="11" name="TextBox 11"/>
            <p:cNvSpPr txBox="1"/>
            <p:nvPr/>
          </p:nvSpPr>
          <p:spPr>
            <a:xfrm>
              <a:off x="506484" y="47625"/>
              <a:ext cx="2749098" cy="381297"/>
            </a:xfrm>
            <a:prstGeom prst="rect">
              <a:avLst/>
            </a:prstGeom>
          </p:spPr>
          <p:txBody>
            <a:bodyPr lIns="0" tIns="0" rIns="0" bIns="0" rtlCol="0" anchor="t">
              <a:spAutoFit/>
            </a:bodyPr>
            <a:lstStyle/>
            <a:p>
              <a:pPr marL="0" lvl="0" indent="0" algn="l">
                <a:lnSpc>
                  <a:spcPts val="1869"/>
                </a:lnSpc>
              </a:pPr>
              <a:r>
                <a:rPr lang="en-US" sz="2149" b="1">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PRESENTED BY</a:t>
              </a:r>
            </a:p>
          </p:txBody>
        </p:sp>
        <p:sp>
          <p:nvSpPr>
            <p:cNvPr id="12" name="TextBox 12"/>
            <p:cNvSpPr txBox="1"/>
            <p:nvPr/>
          </p:nvSpPr>
          <p:spPr>
            <a:xfrm>
              <a:off x="506484" y="527145"/>
              <a:ext cx="3190280" cy="368253"/>
            </a:xfrm>
            <a:prstGeom prst="rect">
              <a:avLst/>
            </a:prstGeom>
          </p:spPr>
          <p:txBody>
            <a:bodyPr lIns="0" tIns="0" rIns="0" bIns="0" rtlCol="0" anchor="t">
              <a:spAutoFit/>
            </a:bodyPr>
            <a:lstStyle/>
            <a:p>
              <a:pPr marL="0" lvl="0" indent="0" algn="l">
                <a:lnSpc>
                  <a:spcPts val="1801"/>
                </a:lnSpc>
              </a:pPr>
              <a:r>
                <a:rPr lang="en-US" sz="207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Rucha</a:t>
              </a:r>
            </a:p>
          </p:txBody>
        </p:sp>
        <p:sp>
          <p:nvSpPr>
            <p:cNvPr id="13" name="TextBox 13"/>
            <p:cNvSpPr txBox="1"/>
            <p:nvPr/>
          </p:nvSpPr>
          <p:spPr>
            <a:xfrm>
              <a:off x="506484" y="1323462"/>
              <a:ext cx="2749098" cy="381297"/>
            </a:xfrm>
            <a:prstGeom prst="rect">
              <a:avLst/>
            </a:prstGeom>
          </p:spPr>
          <p:txBody>
            <a:bodyPr lIns="0" tIns="0" rIns="0" bIns="0" rtlCol="0" anchor="t">
              <a:spAutoFit/>
            </a:bodyPr>
            <a:lstStyle/>
            <a:p>
              <a:pPr marL="0" lvl="0" indent="0" algn="l">
                <a:lnSpc>
                  <a:spcPts val="1869"/>
                </a:lnSpc>
              </a:pPr>
              <a:r>
                <a:rPr lang="en-US" sz="2149" b="1">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TOOL USED</a:t>
              </a:r>
            </a:p>
          </p:txBody>
        </p:sp>
        <p:sp>
          <p:nvSpPr>
            <p:cNvPr id="14" name="TextBox 14"/>
            <p:cNvSpPr txBox="1"/>
            <p:nvPr/>
          </p:nvSpPr>
          <p:spPr>
            <a:xfrm>
              <a:off x="506484" y="1797441"/>
              <a:ext cx="3190280" cy="368253"/>
            </a:xfrm>
            <a:prstGeom prst="rect">
              <a:avLst/>
            </a:prstGeom>
          </p:spPr>
          <p:txBody>
            <a:bodyPr lIns="0" tIns="0" rIns="0" bIns="0" rtlCol="0" anchor="t">
              <a:spAutoFit/>
            </a:bodyPr>
            <a:lstStyle/>
            <a:p>
              <a:pPr marL="0" lvl="0" indent="0" algn="l">
                <a:lnSpc>
                  <a:spcPts val="1801"/>
                </a:lnSpc>
              </a:pPr>
              <a:r>
                <a:rPr lang="en-US" sz="207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Tableau</a:t>
              </a:r>
            </a:p>
          </p:txBody>
        </p:sp>
        <p:grpSp>
          <p:nvGrpSpPr>
            <p:cNvPr id="15" name="Group 15"/>
            <p:cNvGrpSpPr/>
            <p:nvPr/>
          </p:nvGrpSpPr>
          <p:grpSpPr>
            <a:xfrm>
              <a:off x="0" y="1661082"/>
              <a:ext cx="134591" cy="1345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7" name="TextBox 17"/>
              <p:cNvSpPr txBox="1"/>
              <p:nvPr/>
            </p:nvSpPr>
            <p:spPr>
              <a:xfrm>
                <a:off x="76200" y="104775"/>
                <a:ext cx="660400" cy="631825"/>
              </a:xfrm>
              <a:prstGeom prst="rect">
                <a:avLst/>
              </a:prstGeom>
            </p:spPr>
            <p:txBody>
              <a:bodyPr lIns="50800" tIns="50800" rIns="50800" bIns="50800" rtlCol="0" anchor="ctr"/>
              <a:lstStyle/>
              <a:p>
                <a:pPr marL="0" lvl="0" indent="0" algn="ctr">
                  <a:lnSpc>
                    <a:spcPts val="1308"/>
                  </a:lnSpc>
                </a:pPr>
                <a:endParaRPr/>
              </a:p>
            </p:txBody>
          </p:sp>
        </p:grpSp>
      </p:grpSp>
      <p:sp>
        <p:nvSpPr>
          <p:cNvPr id="18" name="TextBox 18"/>
          <p:cNvSpPr txBox="1"/>
          <p:nvPr/>
        </p:nvSpPr>
        <p:spPr>
          <a:xfrm>
            <a:off x="3320099" y="980112"/>
            <a:ext cx="5996813" cy="4239403"/>
          </a:xfrm>
          <a:prstGeom prst="rect">
            <a:avLst/>
          </a:prstGeom>
        </p:spPr>
        <p:txBody>
          <a:bodyPr lIns="0" tIns="0" rIns="0" bIns="0" rtlCol="0" anchor="t">
            <a:spAutoFit/>
          </a:bodyPr>
          <a:lstStyle/>
          <a:p>
            <a:pPr marL="0" lvl="0" indent="0" algn="l">
              <a:lnSpc>
                <a:spcPts val="10983"/>
              </a:lnSpc>
            </a:pPr>
            <a:r>
              <a:rPr lang="en-US" sz="11207" spc="-71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FOOD</a:t>
            </a:r>
          </a:p>
          <a:p>
            <a:pPr marL="0" lvl="0" indent="0" algn="l">
              <a:lnSpc>
                <a:spcPts val="10983"/>
              </a:lnSpc>
            </a:pPr>
            <a:r>
              <a:rPr lang="en-US" sz="11207" spc="-71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DELIVERY</a:t>
            </a:r>
          </a:p>
          <a:p>
            <a:pPr marL="0" lvl="0" indent="0" algn="l">
              <a:lnSpc>
                <a:spcPts val="10983"/>
              </a:lnSpc>
            </a:pPr>
            <a:r>
              <a:rPr lang="en-US" sz="11207" spc="-71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ANALYSIS</a:t>
            </a:r>
          </a:p>
        </p:txBody>
      </p:sp>
      <p:sp>
        <p:nvSpPr>
          <p:cNvPr id="19" name="TextBox 19"/>
          <p:cNvSpPr txBox="1"/>
          <p:nvPr/>
        </p:nvSpPr>
        <p:spPr>
          <a:xfrm>
            <a:off x="3320099" y="5570120"/>
            <a:ext cx="5696631" cy="1101260"/>
          </a:xfrm>
          <a:prstGeom prst="rect">
            <a:avLst/>
          </a:prstGeom>
        </p:spPr>
        <p:txBody>
          <a:bodyPr lIns="0" tIns="0" rIns="0" bIns="0" rtlCol="0" anchor="t">
            <a:spAutoFit/>
          </a:bodyPr>
          <a:lstStyle/>
          <a:p>
            <a:pPr marL="0" lvl="0" indent="0" algn="just">
              <a:lnSpc>
                <a:spcPts val="2858"/>
              </a:lnSpc>
            </a:pPr>
            <a:r>
              <a:rPr lang="en-US" sz="2233" spc="-6">
                <a:solidFill>
                  <a:srgbClr val="3A58E4"/>
                </a:solidFill>
                <a:latin typeface="Poppins"/>
                <a:ea typeface="Poppins"/>
                <a:cs typeface="Poppins"/>
                <a:sym typeface="Poppins"/>
              </a:rPr>
              <a:t>Capstone Project – 1 | Food Delivery System Dataset analyzed using Tableau for operational performance insights.</a:t>
            </a:r>
          </a:p>
        </p:txBody>
      </p:sp>
      <p:sp>
        <p:nvSpPr>
          <p:cNvPr id="20" name="TextBox 20"/>
          <p:cNvSpPr txBox="1"/>
          <p:nvPr/>
        </p:nvSpPr>
        <p:spPr>
          <a:xfrm>
            <a:off x="350972" y="1968832"/>
            <a:ext cx="1704171" cy="342132"/>
          </a:xfrm>
          <a:prstGeom prst="rect">
            <a:avLst/>
          </a:prstGeom>
        </p:spPr>
        <p:txBody>
          <a:bodyPr lIns="0" tIns="0" rIns="0" bIns="0" rtlCol="0" anchor="t">
            <a:spAutoFit/>
          </a:bodyPr>
          <a:lstStyle/>
          <a:p>
            <a:pPr marL="0" lvl="0" indent="0" algn="ctr">
              <a:lnSpc>
                <a:spcPts val="2419"/>
              </a:lnSpc>
            </a:pPr>
            <a:r>
              <a:rPr lang="en-US" sz="2261" b="1">
                <a:solidFill>
                  <a:srgbClr val="FFFFFF"/>
                </a:solidFill>
                <a:latin typeface="Poppins Bold"/>
                <a:ea typeface="Poppins Bold"/>
                <a:cs typeface="Poppins Bold"/>
                <a:sym typeface="Poppins Bold"/>
              </a:rPr>
              <a:t>Capstone</a:t>
            </a:r>
          </a:p>
        </p:txBody>
      </p:sp>
      <p:sp>
        <p:nvSpPr>
          <p:cNvPr id="21" name="TextBox 21"/>
          <p:cNvSpPr txBox="1"/>
          <p:nvPr/>
        </p:nvSpPr>
        <p:spPr>
          <a:xfrm>
            <a:off x="360740" y="2310991"/>
            <a:ext cx="1704171" cy="331238"/>
          </a:xfrm>
          <a:prstGeom prst="rect">
            <a:avLst/>
          </a:prstGeom>
        </p:spPr>
        <p:txBody>
          <a:bodyPr lIns="0" tIns="0" rIns="0" bIns="0" rtlCol="0" anchor="t">
            <a:spAutoFit/>
          </a:bodyPr>
          <a:lstStyle/>
          <a:p>
            <a:pPr marL="0" lvl="0" indent="0" algn="ctr">
              <a:lnSpc>
                <a:spcPts val="2330"/>
              </a:lnSpc>
            </a:pPr>
            <a:r>
              <a:rPr lang="en-US" sz="2178">
                <a:solidFill>
                  <a:srgbClr val="FFFFFF"/>
                </a:solidFill>
                <a:latin typeface="Poppins"/>
                <a:ea typeface="Poppins"/>
                <a:cs typeface="Poppins"/>
                <a:sym typeface="Poppins"/>
              </a:rPr>
              <a:t>Project</a:t>
            </a:r>
          </a:p>
        </p:txBody>
      </p:sp>
      <p:grpSp>
        <p:nvGrpSpPr>
          <p:cNvPr id="22" name="Group 22"/>
          <p:cNvGrpSpPr/>
          <p:nvPr/>
        </p:nvGrpSpPr>
        <p:grpSpPr>
          <a:xfrm>
            <a:off x="360740" y="8287049"/>
            <a:ext cx="1713939" cy="673370"/>
            <a:chOff x="0" y="0"/>
            <a:chExt cx="2285252" cy="897827"/>
          </a:xfrm>
        </p:grpSpPr>
        <p:sp>
          <p:nvSpPr>
            <p:cNvPr id="23" name="TextBox 23"/>
            <p:cNvSpPr txBox="1"/>
            <p:nvPr/>
          </p:nvSpPr>
          <p:spPr>
            <a:xfrm>
              <a:off x="0" y="0"/>
              <a:ext cx="2272228" cy="456176"/>
            </a:xfrm>
            <a:prstGeom prst="rect">
              <a:avLst/>
            </a:prstGeom>
          </p:spPr>
          <p:txBody>
            <a:bodyPr lIns="0" tIns="0" rIns="0" bIns="0" rtlCol="0" anchor="t">
              <a:spAutoFit/>
            </a:bodyPr>
            <a:lstStyle/>
            <a:p>
              <a:pPr marL="0" lvl="0" indent="0" algn="ctr">
                <a:lnSpc>
                  <a:spcPts val="2419"/>
                </a:lnSpc>
              </a:pPr>
              <a:r>
                <a:rPr lang="en-US" sz="2261" b="1">
                  <a:solidFill>
                    <a:srgbClr val="FFFFFF"/>
                  </a:solidFill>
                  <a:latin typeface="Poppins Bold"/>
                  <a:ea typeface="Poppins Bold"/>
                  <a:cs typeface="Poppins Bold"/>
                  <a:sym typeface="Poppins Bold"/>
                </a:rPr>
                <a:t>2024</a:t>
              </a:r>
            </a:p>
          </p:txBody>
        </p:sp>
        <p:sp>
          <p:nvSpPr>
            <p:cNvPr id="24" name="TextBox 24"/>
            <p:cNvSpPr txBox="1"/>
            <p:nvPr/>
          </p:nvSpPr>
          <p:spPr>
            <a:xfrm>
              <a:off x="13024" y="456176"/>
              <a:ext cx="2272228" cy="441651"/>
            </a:xfrm>
            <a:prstGeom prst="rect">
              <a:avLst/>
            </a:prstGeom>
          </p:spPr>
          <p:txBody>
            <a:bodyPr lIns="0" tIns="0" rIns="0" bIns="0" rtlCol="0" anchor="t">
              <a:spAutoFit/>
            </a:bodyPr>
            <a:lstStyle/>
            <a:p>
              <a:pPr marL="0" lvl="0" indent="0" algn="ctr">
                <a:lnSpc>
                  <a:spcPts val="2330"/>
                </a:lnSpc>
              </a:pPr>
              <a:r>
                <a:rPr lang="en-US" sz="2178">
                  <a:solidFill>
                    <a:srgbClr val="FFFFFF"/>
                  </a:solidFill>
                  <a:latin typeface="Poppins"/>
                  <a:ea typeface="Poppins"/>
                  <a:cs typeface="Poppins"/>
                  <a:sym typeface="Poppins"/>
                </a:rPr>
                <a:t>Analysis</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92056" y="1525863"/>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8492056" y="4424761"/>
            <a:ext cx="7106119" cy="435134"/>
          </a:xfrm>
          <a:prstGeom prst="rect">
            <a:avLst/>
          </a:prstGeom>
        </p:spPr>
        <p:txBody>
          <a:bodyPr lIns="0" tIns="0" rIns="0" bIns="0" rtlCol="0" anchor="t">
            <a:spAutoFit/>
          </a:bodyPr>
          <a:lstStyle/>
          <a:p>
            <a:pPr marL="0" lvl="0" indent="0" algn="l">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OVERVIEW OF PROJECT GOALS, TOOLS, AND KPIS</a:t>
            </a:r>
          </a:p>
        </p:txBody>
      </p:sp>
      <p:sp>
        <p:nvSpPr>
          <p:cNvPr id="6" name="Freeform 6"/>
          <p:cNvSpPr/>
          <p:nvPr/>
        </p:nvSpPr>
        <p:spPr>
          <a:xfrm rot="-8687136">
            <a:off x="15580115" y="4542838"/>
            <a:ext cx="189150" cy="228643"/>
          </a:xfrm>
          <a:custGeom>
            <a:avLst/>
            <a:gdLst/>
            <a:ahLst/>
            <a:cxnLst/>
            <a:rect l="l" t="t" r="r" b="b"/>
            <a:pathLst>
              <a:path w="189150" h="228643">
                <a:moveTo>
                  <a:pt x="0" y="0"/>
                </a:moveTo>
                <a:lnTo>
                  <a:pt x="189150" y="0"/>
                </a:lnTo>
                <a:lnTo>
                  <a:pt x="189150" y="228644"/>
                </a:lnTo>
                <a:lnTo>
                  <a:pt x="0" y="22864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0" y="0"/>
            <a:ext cx="6352295" cy="10287000"/>
            <a:chOff x="0" y="0"/>
            <a:chExt cx="984137" cy="1593725"/>
          </a:xfrm>
        </p:grpSpPr>
        <p:sp>
          <p:nvSpPr>
            <p:cNvPr id="8" name="Freeform 8"/>
            <p:cNvSpPr/>
            <p:nvPr/>
          </p:nvSpPr>
          <p:spPr>
            <a:xfrm>
              <a:off x="0" y="0"/>
              <a:ext cx="984137" cy="1593725"/>
            </a:xfrm>
            <a:custGeom>
              <a:avLst/>
              <a:gdLst/>
              <a:ahLst/>
              <a:cxnLst/>
              <a:rect l="l" t="t" r="r" b="b"/>
              <a:pathLst>
                <a:path w="984137" h="1593725">
                  <a:moveTo>
                    <a:pt x="0" y="0"/>
                  </a:moveTo>
                  <a:lnTo>
                    <a:pt x="984137" y="0"/>
                  </a:lnTo>
                  <a:lnTo>
                    <a:pt x="984137" y="1593725"/>
                  </a:lnTo>
                  <a:lnTo>
                    <a:pt x="0" y="1593725"/>
                  </a:lnTo>
                  <a:close/>
                </a:path>
              </a:pathLst>
            </a:custGeom>
            <a:blipFill>
              <a:blip r:embed="rId3"/>
              <a:stretch>
                <a:fillRect t="-306" b="-306"/>
              </a:stretch>
            </a:blipFill>
          </p:spPr>
        </p:sp>
      </p:grpSp>
      <p:grpSp>
        <p:nvGrpSpPr>
          <p:cNvPr id="9" name="Group 9"/>
          <p:cNvGrpSpPr/>
          <p:nvPr/>
        </p:nvGrpSpPr>
        <p:grpSpPr>
          <a:xfrm>
            <a:off x="16438046" y="129"/>
            <a:ext cx="1849954" cy="1848037"/>
            <a:chOff x="0" y="0"/>
            <a:chExt cx="2466605" cy="2464050"/>
          </a:xfrm>
        </p:grpSpPr>
        <p:grpSp>
          <p:nvGrpSpPr>
            <p:cNvPr id="10" name="Group 10"/>
            <p:cNvGrpSpPr/>
            <p:nvPr/>
          </p:nvGrpSpPr>
          <p:grpSpPr>
            <a:xfrm>
              <a:off x="0" y="0"/>
              <a:ext cx="2466605" cy="2464050"/>
              <a:chOff x="0" y="0"/>
              <a:chExt cx="787566" cy="786750"/>
            </a:xfrm>
          </p:grpSpPr>
          <p:sp>
            <p:nvSpPr>
              <p:cNvPr id="11" name="Freeform 1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02</a:t>
              </a:r>
            </a:p>
          </p:txBody>
        </p:sp>
      </p:grpSp>
      <p:sp>
        <p:nvSpPr>
          <p:cNvPr id="14" name="AutoShape 14"/>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5177017" y="5870652"/>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grpSp>
        <p:nvGrpSpPr>
          <p:cNvPr id="16" name="Group 16"/>
          <p:cNvGrpSpPr/>
          <p:nvPr/>
        </p:nvGrpSpPr>
        <p:grpSpPr>
          <a:xfrm>
            <a:off x="5262566" y="3959058"/>
            <a:ext cx="2152019" cy="2149322"/>
            <a:chOff x="0" y="0"/>
            <a:chExt cx="567580" cy="566868"/>
          </a:xfrm>
        </p:grpSpPr>
        <p:sp>
          <p:nvSpPr>
            <p:cNvPr id="17" name="Freeform 17"/>
            <p:cNvSpPr/>
            <p:nvPr/>
          </p:nvSpPr>
          <p:spPr>
            <a:xfrm>
              <a:off x="0" y="0"/>
              <a:ext cx="567580" cy="566868"/>
            </a:xfrm>
            <a:custGeom>
              <a:avLst/>
              <a:gdLst/>
              <a:ahLst/>
              <a:cxnLst/>
              <a:rect l="l" t="t" r="r" b="b"/>
              <a:pathLst>
                <a:path w="567580" h="566868">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18" name="TextBox 18"/>
            <p:cNvSpPr txBox="1"/>
            <p:nvPr/>
          </p:nvSpPr>
          <p:spPr>
            <a:xfrm>
              <a:off x="0" y="28575"/>
              <a:ext cx="567580" cy="538293"/>
            </a:xfrm>
            <a:prstGeom prst="rect">
              <a:avLst/>
            </a:prstGeom>
          </p:spPr>
          <p:txBody>
            <a:bodyPr lIns="48445" tIns="48445" rIns="48445" bIns="48445" rtlCol="0" anchor="ctr"/>
            <a:lstStyle/>
            <a:p>
              <a:pPr marL="0" lvl="0" indent="0" algn="ctr">
                <a:lnSpc>
                  <a:spcPts val="2460"/>
                </a:lnSpc>
              </a:pPr>
              <a:endParaRPr/>
            </a:p>
          </p:txBody>
        </p:sp>
      </p:grpSp>
      <p:sp>
        <p:nvSpPr>
          <p:cNvPr id="19" name="TextBox 19"/>
          <p:cNvSpPr txBox="1"/>
          <p:nvPr/>
        </p:nvSpPr>
        <p:spPr>
          <a:xfrm>
            <a:off x="5602320" y="4444821"/>
            <a:ext cx="1499950" cy="486039"/>
          </a:xfrm>
          <a:prstGeom prst="rect">
            <a:avLst/>
          </a:prstGeom>
        </p:spPr>
        <p:txBody>
          <a:bodyPr lIns="0" tIns="0" rIns="0" bIns="0" rtlCol="0" anchor="t">
            <a:spAutoFit/>
          </a:bodyPr>
          <a:lstStyle/>
          <a:p>
            <a:pPr marL="0" lvl="0" indent="0" algn="ctr">
              <a:lnSpc>
                <a:spcPts val="3674"/>
              </a:lnSpc>
            </a:pPr>
            <a:r>
              <a:rPr lang="en-US" sz="3711" b="1" spc="-111">
                <a:solidFill>
                  <a:srgbClr val="FFFFFF"/>
                </a:solidFill>
                <a:latin typeface="Bricolage Grotesque Bold"/>
                <a:ea typeface="Bricolage Grotesque Bold"/>
                <a:cs typeface="Bricolage Grotesque Bold"/>
                <a:sym typeface="Bricolage Grotesque Bold"/>
              </a:rPr>
              <a:t>KPIs</a:t>
            </a:r>
          </a:p>
        </p:txBody>
      </p:sp>
      <p:sp>
        <p:nvSpPr>
          <p:cNvPr id="20" name="TextBox 20"/>
          <p:cNvSpPr txBox="1"/>
          <p:nvPr/>
        </p:nvSpPr>
        <p:spPr>
          <a:xfrm>
            <a:off x="5746312" y="5256457"/>
            <a:ext cx="1211966" cy="434834"/>
          </a:xfrm>
          <a:prstGeom prst="rect">
            <a:avLst/>
          </a:prstGeom>
        </p:spPr>
        <p:txBody>
          <a:bodyPr lIns="0" tIns="0" rIns="0" bIns="0" rtlCol="0" anchor="t">
            <a:spAutoFit/>
          </a:bodyPr>
          <a:lstStyle/>
          <a:p>
            <a:pPr marL="0" lvl="0" indent="0" algn="ctr">
              <a:lnSpc>
                <a:spcPts val="1757"/>
              </a:lnSpc>
            </a:pPr>
            <a:r>
              <a:rPr lang="en-US" sz="1255" spc="-31">
                <a:solidFill>
                  <a:srgbClr val="FFFFFF"/>
                </a:solidFill>
                <a:latin typeface="Poppins"/>
                <a:ea typeface="Poppins"/>
                <a:cs typeface="Poppins"/>
                <a:sym typeface="Poppins"/>
              </a:rPr>
              <a:t>TABLEAU CSV DATASET</a:t>
            </a:r>
          </a:p>
        </p:txBody>
      </p:sp>
      <p:sp>
        <p:nvSpPr>
          <p:cNvPr id="21" name="TextBox 21"/>
          <p:cNvSpPr txBox="1"/>
          <p:nvPr/>
        </p:nvSpPr>
        <p:spPr>
          <a:xfrm>
            <a:off x="8720122" y="1406218"/>
            <a:ext cx="5780387" cy="2489701"/>
          </a:xfrm>
          <a:prstGeom prst="rect">
            <a:avLst/>
          </a:prstGeom>
        </p:spPr>
        <p:txBody>
          <a:bodyPr lIns="0" tIns="0" rIns="0" bIns="0" rtlCol="0" anchor="t">
            <a:spAutoFit/>
          </a:bodyPr>
          <a:lstStyle/>
          <a:p>
            <a:pPr marL="0" lvl="0" indent="0" algn="l">
              <a:lnSpc>
                <a:spcPts val="9596"/>
              </a:lnSpc>
            </a:pPr>
            <a:r>
              <a:rPr lang="en-US" sz="9792" spc="-626">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Project Overview</a:t>
            </a:r>
          </a:p>
        </p:txBody>
      </p:sp>
      <p:sp>
        <p:nvSpPr>
          <p:cNvPr id="22" name="TextBox 22"/>
          <p:cNvSpPr txBox="1"/>
          <p:nvPr/>
        </p:nvSpPr>
        <p:spPr>
          <a:xfrm>
            <a:off x="8492056" y="5346006"/>
            <a:ext cx="7325824" cy="1629204"/>
          </a:xfrm>
          <a:prstGeom prst="rect">
            <a:avLst/>
          </a:prstGeom>
        </p:spPr>
        <p:txBody>
          <a:bodyPr lIns="0" tIns="0" rIns="0" bIns="0" rtlCol="0" anchor="t">
            <a:spAutoFit/>
          </a:bodyPr>
          <a:lstStyle/>
          <a:p>
            <a:pPr marL="0" lvl="0" indent="0" algn="just">
              <a:lnSpc>
                <a:spcPts val="2601"/>
              </a:lnSpc>
            </a:pPr>
            <a:r>
              <a:rPr lang="en-US" sz="1858" spc="-5">
                <a:solidFill>
                  <a:srgbClr val="3A58E4"/>
                </a:solidFill>
                <a:latin typeface="Poppins"/>
                <a:ea typeface="Poppins"/>
                <a:cs typeface="Poppins"/>
                <a:sym typeface="Poppins"/>
              </a:rPr>
              <a:t>Analyze the operational performance of a food delivery system using Tableau. Dashboard insights cover customer satisfaction, delivery efficiency, order distribution, traffic conditions, vehicle usage, festival impact, and delivery categories.</a:t>
            </a:r>
          </a:p>
        </p:txBody>
      </p:sp>
      <p:sp>
        <p:nvSpPr>
          <p:cNvPr id="23" name="TextBox 23"/>
          <p:cNvSpPr txBox="1"/>
          <p:nvPr/>
        </p:nvSpPr>
        <p:spPr>
          <a:xfrm>
            <a:off x="8274055" y="7461321"/>
            <a:ext cx="5481943" cy="1629204"/>
          </a:xfrm>
          <a:prstGeom prst="rect">
            <a:avLst/>
          </a:prstGeom>
        </p:spPr>
        <p:txBody>
          <a:bodyPr lIns="0" tIns="0" rIns="0" bIns="0" rtlCol="0" anchor="t">
            <a:spAutoFit/>
          </a:bodyPr>
          <a:lstStyle/>
          <a:p>
            <a:pPr marL="0" lvl="0" indent="0" algn="just">
              <a:lnSpc>
                <a:spcPts val="2601"/>
              </a:lnSpc>
            </a:pPr>
            <a:r>
              <a:rPr lang="en-US" sz="1858" spc="-5">
                <a:solidFill>
                  <a:srgbClr val="3A58E4"/>
                </a:solidFill>
                <a:latin typeface="Poppins"/>
                <a:ea typeface="Poppins"/>
                <a:cs typeface="Poppins"/>
                <a:sym typeface="Poppins"/>
              </a:rPr>
              <a:t>Total Orders: 45,593 orders analyzed</a:t>
            </a:r>
          </a:p>
          <a:p>
            <a:pPr marL="0" lvl="0" indent="0" algn="just">
              <a:lnSpc>
                <a:spcPts val="2601"/>
              </a:lnSpc>
            </a:pPr>
            <a:r>
              <a:rPr lang="en-US" sz="1858" spc="-5">
                <a:solidFill>
                  <a:srgbClr val="3A58E4"/>
                </a:solidFill>
                <a:latin typeface="Poppins"/>
                <a:ea typeface="Poppins"/>
                <a:cs typeface="Poppins"/>
                <a:sym typeface="Poppins"/>
              </a:rPr>
              <a:t>Customer Rating: 4.634 out of 5</a:t>
            </a:r>
          </a:p>
          <a:p>
            <a:pPr marL="0" lvl="0" indent="0" algn="just">
              <a:lnSpc>
                <a:spcPts val="2601"/>
              </a:lnSpc>
            </a:pPr>
            <a:r>
              <a:rPr lang="en-US" sz="1858" spc="-5">
                <a:solidFill>
                  <a:srgbClr val="3A58E4"/>
                </a:solidFill>
                <a:latin typeface="Poppins"/>
                <a:ea typeface="Poppins"/>
                <a:cs typeface="Poppins"/>
                <a:sym typeface="Poppins"/>
              </a:rPr>
              <a:t>Average Delivery Time: 26.29 minutes</a:t>
            </a:r>
          </a:p>
          <a:p>
            <a:pPr marL="0" lvl="0" indent="0" algn="just">
              <a:lnSpc>
                <a:spcPts val="2601"/>
              </a:lnSpc>
            </a:pPr>
            <a:r>
              <a:rPr lang="en-US" sz="1858" spc="-5">
                <a:solidFill>
                  <a:srgbClr val="3A58E4"/>
                </a:solidFill>
                <a:latin typeface="Poppins"/>
                <a:ea typeface="Poppins"/>
                <a:cs typeface="Poppins"/>
                <a:sym typeface="Poppins"/>
              </a:rPr>
              <a:t>Tool Used: Tableau | Dataset: Food Delivery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4498" y="63201"/>
            <a:ext cx="57311" cy="1110304"/>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1792251" y="242427"/>
            <a:ext cx="6495749" cy="1716239"/>
          </a:xfrm>
          <a:prstGeom prst="rect">
            <a:avLst/>
          </a:prstGeom>
        </p:spPr>
        <p:txBody>
          <a:bodyPr wrap="square" lIns="0" tIns="0" rIns="0" bIns="0" rtlCol="0" anchor="t">
            <a:spAutoFit/>
          </a:bodyPr>
          <a:lstStyle/>
          <a:p>
            <a:pPr marL="0" lvl="0" indent="0">
              <a:lnSpc>
                <a:spcPts val="3298"/>
              </a:lnSpc>
            </a:pPr>
            <a:r>
              <a:rPr lang="en-US" sz="3600" b="1" spc="-58" dirty="0">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COMPREHENSIVE VIEW OF FOOD DELIVERY OPERATIONS AND BUSINESS PERFORMANCE METRICS</a:t>
            </a:r>
          </a:p>
        </p:txBody>
      </p:sp>
      <p:sp>
        <p:nvSpPr>
          <p:cNvPr id="6" name="Freeform 6"/>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6692815" y="1088"/>
            <a:ext cx="1849954" cy="1409941"/>
            <a:chOff x="0" y="0"/>
            <a:chExt cx="2466605" cy="2462771"/>
          </a:xfrm>
        </p:grpSpPr>
        <p:grpSp>
          <p:nvGrpSpPr>
            <p:cNvPr id="8" name="Group 8"/>
            <p:cNvGrpSpPr/>
            <p:nvPr/>
          </p:nvGrpSpPr>
          <p:grpSpPr>
            <a:xfrm>
              <a:off x="0" y="0"/>
              <a:ext cx="2466605" cy="2462771"/>
              <a:chOff x="0" y="0"/>
              <a:chExt cx="787566" cy="786342"/>
            </a:xfrm>
          </p:grpSpPr>
          <p:sp>
            <p:nvSpPr>
              <p:cNvPr id="9" name="Freeform 9"/>
              <p:cNvSpPr/>
              <p:nvPr/>
            </p:nvSpPr>
            <p:spPr>
              <a:xfrm>
                <a:off x="0" y="0"/>
                <a:ext cx="787566" cy="786342"/>
              </a:xfrm>
              <a:custGeom>
                <a:avLst/>
                <a:gdLst/>
                <a:ahLst/>
                <a:cxnLst/>
                <a:rect l="l" t="t" r="r" b="b"/>
                <a:pathLst>
                  <a:path w="787566" h="786342">
                    <a:moveTo>
                      <a:pt x="0" y="0"/>
                    </a:moveTo>
                    <a:lnTo>
                      <a:pt x="787566" y="0"/>
                    </a:lnTo>
                    <a:lnTo>
                      <a:pt x="787566" y="786342"/>
                    </a:lnTo>
                    <a:lnTo>
                      <a:pt x="0" y="786342"/>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0" name="TextBox 10"/>
              <p:cNvSpPr txBox="1"/>
              <p:nvPr/>
            </p:nvSpPr>
            <p:spPr>
              <a:xfrm>
                <a:off x="0" y="-38100"/>
                <a:ext cx="787566" cy="82444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319164" y="703574"/>
              <a:ext cx="1828278" cy="1188973"/>
            </a:xfrm>
            <a:prstGeom prst="rect">
              <a:avLst/>
            </a:prstGeom>
          </p:spPr>
          <p:txBody>
            <a:bodyPr lIns="0" tIns="0" rIns="0" bIns="0" rtlCol="0" anchor="t">
              <a:spAutoFit/>
            </a:bodyPr>
            <a:lstStyle/>
            <a:p>
              <a:pPr marL="0" lvl="0" indent="0" algn="ctr">
                <a:lnSpc>
                  <a:spcPts val="6387"/>
                </a:lnSpc>
              </a:pPr>
              <a:r>
                <a:rPr lang="en-US" sz="6518" spc="-417" dirty="0">
                  <a:solidFill>
                    <a:srgbClr val="FFFFFF"/>
                  </a:solidFill>
                  <a:latin typeface="Bricolage Grotesque"/>
                  <a:ea typeface="Bricolage Grotesque"/>
                  <a:cs typeface="Bricolage Grotesque"/>
                  <a:sym typeface="Bricolage Grotesque"/>
                </a:rPr>
                <a:t>03</a:t>
              </a:r>
            </a:p>
          </p:txBody>
        </p:sp>
      </p:grpSp>
      <p:sp>
        <p:nvSpPr>
          <p:cNvPr id="15" name="AutoShape 15"/>
          <p:cNvSpPr/>
          <p:nvPr/>
        </p:nvSpPr>
        <p:spPr>
          <a:xfrm>
            <a:off x="11265243" y="1312143"/>
            <a:ext cx="0" cy="6474165"/>
          </a:xfrm>
          <a:prstGeom prst="line">
            <a:avLst/>
          </a:prstGeom>
          <a:ln w="25400" cap="rnd">
            <a:solidFill>
              <a:srgbClr val="3A58E4"/>
            </a:solidFill>
            <a:prstDash val="solid"/>
            <a:headEnd type="none" w="sm" len="sm"/>
            <a:tailEnd type="none" w="sm" len="sm"/>
          </a:ln>
        </p:spPr>
      </p:sp>
      <p:sp>
        <p:nvSpPr>
          <p:cNvPr id="16" name="TextBox 16"/>
          <p:cNvSpPr txBox="1"/>
          <p:nvPr/>
        </p:nvSpPr>
        <p:spPr>
          <a:xfrm>
            <a:off x="1076325" y="48348"/>
            <a:ext cx="5780387" cy="1110304"/>
          </a:xfrm>
          <a:prstGeom prst="rect">
            <a:avLst/>
          </a:prstGeom>
        </p:spPr>
        <p:txBody>
          <a:bodyPr lIns="0" tIns="0" rIns="0" bIns="0" rtlCol="0" anchor="t">
            <a:spAutoFit/>
          </a:bodyPr>
          <a:lstStyle/>
          <a:p>
            <a:pPr marL="0" lvl="0" indent="0" algn="l">
              <a:lnSpc>
                <a:spcPts val="9596"/>
              </a:lnSpc>
            </a:pPr>
            <a:r>
              <a:rPr lang="en-US" sz="5400" spc="-626"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Dashboard Overview</a:t>
            </a:r>
          </a:p>
        </p:txBody>
      </p:sp>
      <p:sp>
        <p:nvSpPr>
          <p:cNvPr id="17" name="TextBox 17"/>
          <p:cNvSpPr txBox="1"/>
          <p:nvPr/>
        </p:nvSpPr>
        <p:spPr>
          <a:xfrm>
            <a:off x="11573869" y="3211627"/>
            <a:ext cx="6420679" cy="6773777"/>
          </a:xfrm>
          <a:prstGeom prst="rect">
            <a:avLst/>
          </a:prstGeom>
        </p:spPr>
        <p:txBody>
          <a:bodyPr wrap="square" lIns="0" tIns="0" rIns="0" bIns="0" rtlCol="0" anchor="t">
            <a:spAutoFit/>
          </a:bodyPr>
          <a:lstStyle/>
          <a:p>
            <a:pPr marL="0" lvl="0" indent="0">
              <a:lnSpc>
                <a:spcPts val="3105"/>
              </a:lnSpc>
            </a:pPr>
            <a:r>
              <a:rPr lang="en-US" sz="3200" spc="-6" dirty="0">
                <a:solidFill>
                  <a:srgbClr val="3A58E4"/>
                </a:solidFill>
                <a:latin typeface="Poppins"/>
                <a:ea typeface="Poppins"/>
                <a:cs typeface="Poppins"/>
                <a:sym typeface="Poppins"/>
              </a:rPr>
              <a:t>The dashboard provides a unified view of all key operational metrics for the food delivery system. It enables monitoring of business performance indicators to identify trends, evaluate delivery efficiency, and understand customer experience. Interactive visualizations support informed decision-making across customer satisfaction, delivery speed, traffic conditions, vehicle usage, festival impact, and regional order distribution — all powered by Tableau.</a:t>
            </a:r>
          </a:p>
        </p:txBody>
      </p:sp>
      <p:sp>
        <p:nvSpPr>
          <p:cNvPr id="22" name="TextBox 22"/>
          <p:cNvSpPr txBox="1"/>
          <p:nvPr/>
        </p:nvSpPr>
        <p:spPr>
          <a:xfrm>
            <a:off x="9904370" y="6340300"/>
            <a:ext cx="1582493" cy="516432"/>
          </a:xfrm>
          <a:prstGeom prst="rect">
            <a:avLst/>
          </a:prstGeom>
        </p:spPr>
        <p:txBody>
          <a:bodyPr lIns="0" tIns="0" rIns="0" bIns="0" rtlCol="0" anchor="t">
            <a:spAutoFit/>
          </a:bodyPr>
          <a:lstStyle/>
          <a:p>
            <a:pPr marL="0" lvl="0" indent="0" algn="ctr">
              <a:lnSpc>
                <a:spcPts val="3856"/>
              </a:lnSpc>
            </a:pPr>
            <a:r>
              <a:rPr lang="en-US" sz="3894" b="1" spc="-116">
                <a:solidFill>
                  <a:srgbClr val="FFFFFF"/>
                </a:solidFill>
                <a:latin typeface="Bricolage Grotesque Bold"/>
                <a:ea typeface="Bricolage Grotesque Bold"/>
                <a:cs typeface="Bricolage Grotesque Bold"/>
                <a:sym typeface="Bricolage Grotesque Bold"/>
              </a:rPr>
              <a:t>7</a:t>
            </a:r>
          </a:p>
        </p:txBody>
      </p:sp>
      <p:sp>
        <p:nvSpPr>
          <p:cNvPr id="23" name="TextBox 23"/>
          <p:cNvSpPr txBox="1"/>
          <p:nvPr/>
        </p:nvSpPr>
        <p:spPr>
          <a:xfrm>
            <a:off x="10056286" y="7109445"/>
            <a:ext cx="1278661" cy="550112"/>
          </a:xfrm>
          <a:prstGeom prst="rect">
            <a:avLst/>
          </a:prstGeom>
        </p:spPr>
        <p:txBody>
          <a:bodyPr lIns="0" tIns="0" rIns="0" bIns="0" rtlCol="0" anchor="t">
            <a:spAutoFit/>
          </a:bodyPr>
          <a:lstStyle/>
          <a:p>
            <a:pPr marL="0" lvl="0" indent="0" algn="ctr">
              <a:lnSpc>
                <a:spcPts val="2214"/>
              </a:lnSpc>
            </a:pPr>
            <a:r>
              <a:rPr lang="en-US" sz="1581" spc="-39" dirty="0">
                <a:solidFill>
                  <a:srgbClr val="FFFFFF"/>
                </a:solidFill>
                <a:latin typeface="Poppins"/>
                <a:ea typeface="Poppins"/>
                <a:cs typeface="Poppins"/>
                <a:sym typeface="Poppins"/>
              </a:rPr>
              <a:t>KEY METRICS VISUALIZE</a:t>
            </a:r>
          </a:p>
        </p:txBody>
      </p:sp>
      <p:pic>
        <p:nvPicPr>
          <p:cNvPr id="25" name="Picture 24">
            <a:extLst>
              <a:ext uri="{FF2B5EF4-FFF2-40B4-BE49-F238E27FC236}">
                <a16:creationId xmlns:a16="http://schemas.microsoft.com/office/drawing/2014/main" id="{035F422A-7A2F-AC1F-CB44-D26ECC26AEC9}"/>
              </a:ext>
            </a:extLst>
          </p:cNvPr>
          <p:cNvPicPr>
            <a:picLocks noChangeAspect="1"/>
          </p:cNvPicPr>
          <p:nvPr/>
        </p:nvPicPr>
        <p:blipFill>
          <a:blip r:embed="rId3"/>
          <a:stretch>
            <a:fillRect/>
          </a:stretch>
        </p:blipFill>
        <p:spPr>
          <a:xfrm>
            <a:off x="304801" y="1411028"/>
            <a:ext cx="11030146" cy="84720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438046" y="337728"/>
            <a:ext cx="1849954" cy="1510439"/>
            <a:chOff x="0" y="0"/>
            <a:chExt cx="2466605" cy="2013918"/>
          </a:xfrm>
        </p:grpSpPr>
        <p:grpSp>
          <p:nvGrpSpPr>
            <p:cNvPr id="3" name="Group 3"/>
            <p:cNvGrpSpPr/>
            <p:nvPr/>
          </p:nvGrpSpPr>
          <p:grpSpPr>
            <a:xfrm>
              <a:off x="0" y="0"/>
              <a:ext cx="2466605" cy="2013918"/>
              <a:chOff x="0" y="0"/>
              <a:chExt cx="787566" cy="643027"/>
            </a:xfrm>
          </p:grpSpPr>
          <p:sp>
            <p:nvSpPr>
              <p:cNvPr id="4" name="Freeform 4"/>
              <p:cNvSpPr/>
              <p:nvPr/>
            </p:nvSpPr>
            <p:spPr>
              <a:xfrm>
                <a:off x="0" y="0"/>
                <a:ext cx="787566" cy="643027"/>
              </a:xfrm>
              <a:custGeom>
                <a:avLst/>
                <a:gdLst/>
                <a:ahLst/>
                <a:cxnLst/>
                <a:rect l="l" t="t" r="r" b="b"/>
                <a:pathLst>
                  <a:path w="787566" h="643027">
                    <a:moveTo>
                      <a:pt x="0" y="0"/>
                    </a:moveTo>
                    <a:lnTo>
                      <a:pt x="787566" y="0"/>
                    </a:lnTo>
                    <a:lnTo>
                      <a:pt x="787566" y="643027"/>
                    </a:lnTo>
                    <a:lnTo>
                      <a:pt x="0" y="643027"/>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6811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19164" y="655949"/>
              <a:ext cx="1828278" cy="787745"/>
            </a:xfrm>
            <a:prstGeom prst="rect">
              <a:avLst/>
            </a:prstGeom>
          </p:spPr>
          <p:txBody>
            <a:bodyPr lIns="0" tIns="0" rIns="0" bIns="0" rtlCol="0" anchor="t">
              <a:spAutoFit/>
            </a:bodyPr>
            <a:lstStyle/>
            <a:p>
              <a:pPr marL="0" lvl="0" indent="0" algn="ctr">
                <a:lnSpc>
                  <a:spcPts val="4268"/>
                </a:lnSpc>
              </a:pPr>
              <a:r>
                <a:rPr lang="en-US" sz="4355" spc="-278">
                  <a:solidFill>
                    <a:srgbClr val="FFFFFF"/>
                  </a:solidFill>
                  <a:latin typeface="Bricolage Grotesque"/>
                  <a:ea typeface="Bricolage Grotesque"/>
                  <a:cs typeface="Bricolage Grotesque"/>
                  <a:sym typeface="Bricolage Grotesque"/>
                </a:rPr>
                <a:t>04</a:t>
              </a:r>
            </a:p>
          </p:txBody>
        </p:sp>
      </p:grpSp>
      <p:grpSp>
        <p:nvGrpSpPr>
          <p:cNvPr id="7" name="Group 7"/>
          <p:cNvGrpSpPr/>
          <p:nvPr/>
        </p:nvGrpSpPr>
        <p:grpSpPr>
          <a:xfrm>
            <a:off x="5545788" y="3062727"/>
            <a:ext cx="7196424" cy="379246"/>
            <a:chOff x="0" y="0"/>
            <a:chExt cx="9595232" cy="505662"/>
          </a:xfrm>
        </p:grpSpPr>
        <p:sp>
          <p:nvSpPr>
            <p:cNvPr id="8" name="TextBox 8"/>
            <p:cNvSpPr txBox="1"/>
            <p:nvPr/>
          </p:nvSpPr>
          <p:spPr>
            <a:xfrm>
              <a:off x="0" y="143065"/>
              <a:ext cx="9378912" cy="362597"/>
            </a:xfrm>
            <a:prstGeom prst="rect">
              <a:avLst/>
            </a:prstGeom>
          </p:spPr>
          <p:txBody>
            <a:bodyPr lIns="0" tIns="0" rIns="0" bIns="0" rtlCol="0" anchor="t">
              <a:spAutoFit/>
            </a:bodyPr>
            <a:lstStyle/>
            <a:p>
              <a:pPr marL="0" lvl="0" indent="0" algn="l">
                <a:lnSpc>
                  <a:spcPts val="2204"/>
                </a:lnSpc>
              </a:pPr>
              <a:r>
                <a:rPr lang="en-US" sz="1574" b="1" spc="-3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SUMMARY OF CORE BUSINESS METRICS FROM THE FOOD DELIVERY SYSTEM</a:t>
              </a:r>
            </a:p>
          </p:txBody>
        </p:sp>
        <p:sp>
          <p:nvSpPr>
            <p:cNvPr id="9" name="Freeform 9"/>
            <p:cNvSpPr/>
            <p:nvPr/>
          </p:nvSpPr>
          <p:spPr>
            <a:xfrm rot="-8687136">
              <a:off x="9278212"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10" name="Group 10"/>
          <p:cNvGrpSpPr/>
          <p:nvPr/>
        </p:nvGrpSpPr>
        <p:grpSpPr>
          <a:xfrm>
            <a:off x="1463921" y="4926041"/>
            <a:ext cx="3746706" cy="374670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2" name="TextBox 12"/>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3" name="Group 13"/>
          <p:cNvGrpSpPr/>
          <p:nvPr/>
        </p:nvGrpSpPr>
        <p:grpSpPr>
          <a:xfrm>
            <a:off x="5334452" y="4926041"/>
            <a:ext cx="3746706" cy="374670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a:ln cap="sq">
              <a:noFill/>
              <a:prstDash val="solid"/>
              <a:miter/>
            </a:ln>
          </p:spPr>
        </p:sp>
        <p:sp>
          <p:nvSpPr>
            <p:cNvPr id="15" name="TextBox 15"/>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6" name="Group 16"/>
          <p:cNvGrpSpPr/>
          <p:nvPr/>
        </p:nvGrpSpPr>
        <p:grpSpPr>
          <a:xfrm>
            <a:off x="9205912" y="4926041"/>
            <a:ext cx="3746706" cy="374670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8" name="TextBox 18"/>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9" name="Group 19"/>
          <p:cNvGrpSpPr/>
          <p:nvPr/>
        </p:nvGrpSpPr>
        <p:grpSpPr>
          <a:xfrm>
            <a:off x="13077373" y="4926041"/>
            <a:ext cx="3746706" cy="374670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21" name="TextBox 21"/>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sp>
        <p:nvSpPr>
          <p:cNvPr id="22" name="TextBox 22"/>
          <p:cNvSpPr txBox="1"/>
          <p:nvPr/>
        </p:nvSpPr>
        <p:spPr>
          <a:xfrm>
            <a:off x="2345222" y="6307501"/>
            <a:ext cx="1984104" cy="252490"/>
          </a:xfrm>
          <a:prstGeom prst="rect">
            <a:avLst/>
          </a:prstGeom>
        </p:spPr>
        <p:txBody>
          <a:bodyPr lIns="0" tIns="0" rIns="0" bIns="0" rtlCol="0" anchor="t">
            <a:spAutoFit/>
          </a:bodyPr>
          <a:lstStyle/>
          <a:p>
            <a:pPr marL="0" lvl="0" indent="0" algn="ctr">
              <a:lnSpc>
                <a:spcPts val="1925"/>
              </a:lnSpc>
            </a:pPr>
            <a:r>
              <a:rPr lang="en-US" sz="1492" b="1" spc="-4">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TOTAL ORDERS</a:t>
            </a:r>
          </a:p>
        </p:txBody>
      </p:sp>
      <p:sp>
        <p:nvSpPr>
          <p:cNvPr id="23" name="TextBox 23"/>
          <p:cNvSpPr txBox="1"/>
          <p:nvPr/>
        </p:nvSpPr>
        <p:spPr>
          <a:xfrm>
            <a:off x="2124549" y="7031494"/>
            <a:ext cx="2425450" cy="576834"/>
          </a:xfrm>
          <a:prstGeom prst="rect">
            <a:avLst/>
          </a:prstGeom>
        </p:spPr>
        <p:txBody>
          <a:bodyPr lIns="0" tIns="0" rIns="0" bIns="0" rtlCol="0" anchor="t">
            <a:spAutoFit/>
          </a:bodyPr>
          <a:lstStyle/>
          <a:p>
            <a:pPr marL="0" lvl="0" indent="0" algn="ctr">
              <a:lnSpc>
                <a:spcPts val="1548"/>
              </a:lnSpc>
            </a:pPr>
            <a:r>
              <a:rPr lang="en-US" sz="1200" spc="-3">
                <a:solidFill>
                  <a:srgbClr val="3A58E4"/>
                </a:solidFill>
                <a:latin typeface="Poppins"/>
                <a:ea typeface="Poppins"/>
                <a:cs typeface="Poppins"/>
                <a:sym typeface="Poppins"/>
              </a:rPr>
              <a:t>45,593 orders analyzed representing overall business volume</a:t>
            </a:r>
          </a:p>
        </p:txBody>
      </p:sp>
      <p:sp>
        <p:nvSpPr>
          <p:cNvPr id="24" name="TextBox 24"/>
          <p:cNvSpPr txBox="1"/>
          <p:nvPr/>
        </p:nvSpPr>
        <p:spPr>
          <a:xfrm>
            <a:off x="6215753" y="6307501"/>
            <a:ext cx="1984104" cy="252490"/>
          </a:xfrm>
          <a:prstGeom prst="rect">
            <a:avLst/>
          </a:prstGeom>
        </p:spPr>
        <p:txBody>
          <a:bodyPr lIns="0" tIns="0" rIns="0" bIns="0" rtlCol="0" anchor="t">
            <a:spAutoFit/>
          </a:bodyPr>
          <a:lstStyle/>
          <a:p>
            <a:pPr marL="0" lvl="0" indent="0" algn="ctr">
              <a:lnSpc>
                <a:spcPts val="1925"/>
              </a:lnSpc>
            </a:pPr>
            <a:r>
              <a:rPr lang="en-US" sz="1492" b="1" spc="-4">
                <a:solidFill>
                  <a:srgbClr val="FFFFFF"/>
                </a:solidFill>
                <a:latin typeface="Poppins Bold"/>
                <a:ea typeface="Poppins Bold"/>
                <a:cs typeface="Poppins Bold"/>
                <a:sym typeface="Poppins Bold"/>
              </a:rPr>
              <a:t>CUSTOMER RATING</a:t>
            </a:r>
          </a:p>
        </p:txBody>
      </p:sp>
      <p:sp>
        <p:nvSpPr>
          <p:cNvPr id="25" name="TextBox 25"/>
          <p:cNvSpPr txBox="1"/>
          <p:nvPr/>
        </p:nvSpPr>
        <p:spPr>
          <a:xfrm>
            <a:off x="5995080" y="7221994"/>
            <a:ext cx="2425450" cy="386334"/>
          </a:xfrm>
          <a:prstGeom prst="rect">
            <a:avLst/>
          </a:prstGeom>
        </p:spPr>
        <p:txBody>
          <a:bodyPr lIns="0" tIns="0" rIns="0" bIns="0" rtlCol="0" anchor="t">
            <a:spAutoFit/>
          </a:bodyPr>
          <a:lstStyle/>
          <a:p>
            <a:pPr marL="0" lvl="0" indent="0" algn="ctr">
              <a:lnSpc>
                <a:spcPts val="1548"/>
              </a:lnSpc>
            </a:pPr>
            <a:r>
              <a:rPr lang="en-US" sz="1200" spc="-3">
                <a:solidFill>
                  <a:srgbClr val="FFFFFF"/>
                </a:solidFill>
                <a:latin typeface="Poppins"/>
                <a:ea typeface="Poppins"/>
                <a:cs typeface="Poppins"/>
                <a:sym typeface="Poppins"/>
              </a:rPr>
              <a:t>4.634 out of 5 indicating high customer satisfaction</a:t>
            </a:r>
          </a:p>
        </p:txBody>
      </p:sp>
      <p:sp>
        <p:nvSpPr>
          <p:cNvPr id="26" name="TextBox 26"/>
          <p:cNvSpPr txBox="1"/>
          <p:nvPr/>
        </p:nvSpPr>
        <p:spPr>
          <a:xfrm>
            <a:off x="9901910" y="6307501"/>
            <a:ext cx="2354710" cy="252490"/>
          </a:xfrm>
          <a:prstGeom prst="rect">
            <a:avLst/>
          </a:prstGeom>
        </p:spPr>
        <p:txBody>
          <a:bodyPr lIns="0" tIns="0" rIns="0" bIns="0" rtlCol="0" anchor="t">
            <a:spAutoFit/>
          </a:bodyPr>
          <a:lstStyle/>
          <a:p>
            <a:pPr marL="0" lvl="0" indent="0" algn="ctr">
              <a:lnSpc>
                <a:spcPts val="1925"/>
              </a:lnSpc>
            </a:pPr>
            <a:r>
              <a:rPr lang="en-US" sz="1492" b="1" spc="-4">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AVG DELIVERY TIME</a:t>
            </a:r>
          </a:p>
        </p:txBody>
      </p:sp>
      <p:sp>
        <p:nvSpPr>
          <p:cNvPr id="27" name="TextBox 27"/>
          <p:cNvSpPr txBox="1"/>
          <p:nvPr/>
        </p:nvSpPr>
        <p:spPr>
          <a:xfrm>
            <a:off x="9866540" y="7221994"/>
            <a:ext cx="2425450" cy="386334"/>
          </a:xfrm>
          <a:prstGeom prst="rect">
            <a:avLst/>
          </a:prstGeom>
        </p:spPr>
        <p:txBody>
          <a:bodyPr lIns="0" tIns="0" rIns="0" bIns="0" rtlCol="0" anchor="t">
            <a:spAutoFit/>
          </a:bodyPr>
          <a:lstStyle/>
          <a:p>
            <a:pPr marL="0" lvl="0" indent="0" algn="ctr">
              <a:lnSpc>
                <a:spcPts val="1548"/>
              </a:lnSpc>
            </a:pPr>
            <a:r>
              <a:rPr lang="en-US" sz="1200" spc="-3">
                <a:solidFill>
                  <a:srgbClr val="3A58E4"/>
                </a:solidFill>
                <a:latin typeface="Poppins"/>
                <a:ea typeface="Poppins"/>
                <a:cs typeface="Poppins"/>
                <a:sym typeface="Poppins"/>
              </a:rPr>
              <a:t>26.29 minutes average with room for further optimization</a:t>
            </a:r>
          </a:p>
        </p:txBody>
      </p:sp>
      <p:sp>
        <p:nvSpPr>
          <p:cNvPr id="28" name="TextBox 28"/>
          <p:cNvSpPr txBox="1"/>
          <p:nvPr/>
        </p:nvSpPr>
        <p:spPr>
          <a:xfrm>
            <a:off x="13958674" y="6307501"/>
            <a:ext cx="1984104" cy="252490"/>
          </a:xfrm>
          <a:prstGeom prst="rect">
            <a:avLst/>
          </a:prstGeom>
        </p:spPr>
        <p:txBody>
          <a:bodyPr lIns="0" tIns="0" rIns="0" bIns="0" rtlCol="0" anchor="t">
            <a:spAutoFit/>
          </a:bodyPr>
          <a:lstStyle/>
          <a:p>
            <a:pPr marL="0" lvl="0" indent="0" algn="ctr">
              <a:lnSpc>
                <a:spcPts val="1925"/>
              </a:lnSpc>
            </a:pPr>
            <a:r>
              <a:rPr lang="en-US" sz="1492" b="1" spc="-4">
                <a:solidFill>
                  <a:srgbClr val="FFFFFF"/>
                </a:solidFill>
                <a:latin typeface="Poppins Bold"/>
                <a:ea typeface="Poppins Bold"/>
                <a:cs typeface="Poppins Bold"/>
                <a:sym typeface="Poppins Bold"/>
              </a:rPr>
              <a:t>DATA SOURCE</a:t>
            </a:r>
          </a:p>
        </p:txBody>
      </p:sp>
      <p:sp>
        <p:nvSpPr>
          <p:cNvPr id="29" name="TextBox 29"/>
          <p:cNvSpPr txBox="1"/>
          <p:nvPr/>
        </p:nvSpPr>
        <p:spPr>
          <a:xfrm>
            <a:off x="13738001" y="7221994"/>
            <a:ext cx="2425450" cy="386334"/>
          </a:xfrm>
          <a:prstGeom prst="rect">
            <a:avLst/>
          </a:prstGeom>
        </p:spPr>
        <p:txBody>
          <a:bodyPr lIns="0" tIns="0" rIns="0" bIns="0" rtlCol="0" anchor="t">
            <a:spAutoFit/>
          </a:bodyPr>
          <a:lstStyle/>
          <a:p>
            <a:pPr marL="0" lvl="0" indent="0" algn="ctr">
              <a:lnSpc>
                <a:spcPts val="1548"/>
              </a:lnSpc>
            </a:pPr>
            <a:r>
              <a:rPr lang="en-US" sz="1200" spc="-3">
                <a:solidFill>
                  <a:srgbClr val="FFFFFF"/>
                </a:solidFill>
                <a:latin typeface="Poppins"/>
                <a:ea typeface="Poppins"/>
                <a:cs typeface="Poppins"/>
                <a:sym typeface="Poppins"/>
              </a:rPr>
              <a:t>Food Delivery System Dataset visualized using Tableau</a:t>
            </a:r>
          </a:p>
        </p:txBody>
      </p:sp>
      <p:grpSp>
        <p:nvGrpSpPr>
          <p:cNvPr id="30" name="Group 30"/>
          <p:cNvGrpSpPr/>
          <p:nvPr/>
        </p:nvGrpSpPr>
        <p:grpSpPr>
          <a:xfrm>
            <a:off x="4176506" y="5041321"/>
            <a:ext cx="746986" cy="631706"/>
            <a:chOff x="0" y="0"/>
            <a:chExt cx="995981" cy="842275"/>
          </a:xfrm>
        </p:grpSpPr>
        <p:grpSp>
          <p:nvGrpSpPr>
            <p:cNvPr id="31" name="Group 31"/>
            <p:cNvGrpSpPr/>
            <p:nvPr/>
          </p:nvGrpSpPr>
          <p:grpSpPr>
            <a:xfrm>
              <a:off x="0" y="0"/>
              <a:ext cx="995981" cy="842275"/>
              <a:chOff x="0" y="0"/>
              <a:chExt cx="812800" cy="687364"/>
            </a:xfrm>
          </p:grpSpPr>
          <p:sp>
            <p:nvSpPr>
              <p:cNvPr id="32" name="Freeform 32"/>
              <p:cNvSpPr/>
              <p:nvPr/>
            </p:nvSpPr>
            <p:spPr>
              <a:xfrm>
                <a:off x="0" y="0"/>
                <a:ext cx="812800" cy="687364"/>
              </a:xfrm>
              <a:custGeom>
                <a:avLst/>
                <a:gdLst/>
                <a:ahLst/>
                <a:cxnLst/>
                <a:rect l="l" t="t" r="r" b="b"/>
                <a:pathLst>
                  <a:path w="812800" h="687364">
                    <a:moveTo>
                      <a:pt x="406400" y="0"/>
                    </a:moveTo>
                    <a:cubicBezTo>
                      <a:pt x="181951" y="0"/>
                      <a:pt x="0" y="153872"/>
                      <a:pt x="0" y="343682"/>
                    </a:cubicBezTo>
                    <a:cubicBezTo>
                      <a:pt x="0" y="533492"/>
                      <a:pt x="181951" y="687364"/>
                      <a:pt x="406400" y="687364"/>
                    </a:cubicBezTo>
                    <a:cubicBezTo>
                      <a:pt x="630849" y="687364"/>
                      <a:pt x="812800" y="533492"/>
                      <a:pt x="812800" y="343682"/>
                    </a:cubicBezTo>
                    <a:cubicBezTo>
                      <a:pt x="812800" y="153872"/>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33" name="TextBox 33"/>
              <p:cNvSpPr txBox="1"/>
              <p:nvPr/>
            </p:nvSpPr>
            <p:spPr>
              <a:xfrm>
                <a:off x="76200" y="26340"/>
                <a:ext cx="660400" cy="596583"/>
              </a:xfrm>
              <a:prstGeom prst="rect">
                <a:avLst/>
              </a:prstGeom>
            </p:spPr>
            <p:txBody>
              <a:bodyPr lIns="50800" tIns="50800" rIns="50800" bIns="50800" rtlCol="0" anchor="ctr"/>
              <a:lstStyle/>
              <a:p>
                <a:pPr marL="0" lvl="0" indent="0" algn="ctr">
                  <a:lnSpc>
                    <a:spcPts val="2659"/>
                  </a:lnSpc>
                </a:pPr>
                <a:endParaRPr/>
              </a:p>
            </p:txBody>
          </p:sp>
        </p:grpSp>
        <p:sp>
          <p:nvSpPr>
            <p:cNvPr id="34" name="TextBox 34"/>
            <p:cNvSpPr txBox="1"/>
            <p:nvPr/>
          </p:nvSpPr>
          <p:spPr>
            <a:xfrm>
              <a:off x="175623" y="245086"/>
              <a:ext cx="644736" cy="323528"/>
            </a:xfrm>
            <a:prstGeom prst="rect">
              <a:avLst/>
            </a:prstGeom>
          </p:spPr>
          <p:txBody>
            <a:bodyPr lIns="0" tIns="0" rIns="0" bIns="0" rtlCol="0" anchor="t">
              <a:spAutoFit/>
            </a:bodyPr>
            <a:lstStyle/>
            <a:p>
              <a:pPr marL="0" lvl="0" indent="0" algn="ctr">
                <a:lnSpc>
                  <a:spcPts val="1908"/>
                </a:lnSpc>
              </a:pPr>
              <a:r>
                <a:rPr lang="en-US" sz="1479" spc="-4">
                  <a:solidFill>
                    <a:srgbClr val="FFFFFF"/>
                  </a:solidFill>
                  <a:latin typeface="Poppins"/>
                  <a:ea typeface="Poppins"/>
                  <a:cs typeface="Poppins"/>
                  <a:sym typeface="Poppins"/>
                </a:rPr>
                <a:t>01</a:t>
              </a:r>
            </a:p>
          </p:txBody>
        </p:sp>
      </p:grpSp>
      <p:grpSp>
        <p:nvGrpSpPr>
          <p:cNvPr id="35" name="Group 35"/>
          <p:cNvGrpSpPr/>
          <p:nvPr/>
        </p:nvGrpSpPr>
        <p:grpSpPr>
          <a:xfrm>
            <a:off x="8047037" y="5041321"/>
            <a:ext cx="746986" cy="631706"/>
            <a:chOff x="0" y="0"/>
            <a:chExt cx="995981" cy="842275"/>
          </a:xfrm>
        </p:grpSpPr>
        <p:grpSp>
          <p:nvGrpSpPr>
            <p:cNvPr id="36" name="Group 36"/>
            <p:cNvGrpSpPr/>
            <p:nvPr/>
          </p:nvGrpSpPr>
          <p:grpSpPr>
            <a:xfrm>
              <a:off x="0" y="0"/>
              <a:ext cx="995981" cy="842275"/>
              <a:chOff x="0" y="0"/>
              <a:chExt cx="812800" cy="687364"/>
            </a:xfrm>
          </p:grpSpPr>
          <p:sp>
            <p:nvSpPr>
              <p:cNvPr id="37" name="Freeform 37"/>
              <p:cNvSpPr/>
              <p:nvPr/>
            </p:nvSpPr>
            <p:spPr>
              <a:xfrm>
                <a:off x="0" y="0"/>
                <a:ext cx="812800" cy="687364"/>
              </a:xfrm>
              <a:custGeom>
                <a:avLst/>
                <a:gdLst/>
                <a:ahLst/>
                <a:cxnLst/>
                <a:rect l="l" t="t" r="r" b="b"/>
                <a:pathLst>
                  <a:path w="812800" h="687364">
                    <a:moveTo>
                      <a:pt x="406400" y="0"/>
                    </a:moveTo>
                    <a:cubicBezTo>
                      <a:pt x="181951" y="0"/>
                      <a:pt x="0" y="153872"/>
                      <a:pt x="0" y="343682"/>
                    </a:cubicBezTo>
                    <a:cubicBezTo>
                      <a:pt x="0" y="533492"/>
                      <a:pt x="181951" y="687364"/>
                      <a:pt x="406400" y="687364"/>
                    </a:cubicBezTo>
                    <a:cubicBezTo>
                      <a:pt x="630849" y="687364"/>
                      <a:pt x="812800" y="533492"/>
                      <a:pt x="812800" y="343682"/>
                    </a:cubicBezTo>
                    <a:cubicBezTo>
                      <a:pt x="812800" y="15387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38" name="TextBox 38"/>
              <p:cNvSpPr txBox="1"/>
              <p:nvPr/>
            </p:nvSpPr>
            <p:spPr>
              <a:xfrm>
                <a:off x="76200" y="26340"/>
                <a:ext cx="660400" cy="596583"/>
              </a:xfrm>
              <a:prstGeom prst="rect">
                <a:avLst/>
              </a:prstGeom>
            </p:spPr>
            <p:txBody>
              <a:bodyPr lIns="50800" tIns="50800" rIns="50800" bIns="50800" rtlCol="0" anchor="ctr"/>
              <a:lstStyle/>
              <a:p>
                <a:pPr marL="0" lvl="0" indent="0" algn="ctr">
                  <a:lnSpc>
                    <a:spcPts val="2659"/>
                  </a:lnSpc>
                </a:pPr>
                <a:endParaRPr/>
              </a:p>
            </p:txBody>
          </p:sp>
        </p:grpSp>
        <p:sp>
          <p:nvSpPr>
            <p:cNvPr id="39" name="TextBox 39"/>
            <p:cNvSpPr txBox="1"/>
            <p:nvPr/>
          </p:nvSpPr>
          <p:spPr>
            <a:xfrm>
              <a:off x="175623" y="245086"/>
              <a:ext cx="644736" cy="323528"/>
            </a:xfrm>
            <a:prstGeom prst="rect">
              <a:avLst/>
            </a:prstGeom>
          </p:spPr>
          <p:txBody>
            <a:bodyPr lIns="0" tIns="0" rIns="0" bIns="0" rtlCol="0" anchor="t">
              <a:spAutoFit/>
            </a:bodyPr>
            <a:lstStyle/>
            <a:p>
              <a:pPr marL="0" lvl="0" indent="0" algn="ctr">
                <a:lnSpc>
                  <a:spcPts val="1908"/>
                </a:lnSpc>
              </a:pPr>
              <a:r>
                <a:rPr lang="en-US" sz="1479" spc="-4">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02</a:t>
              </a:r>
            </a:p>
          </p:txBody>
        </p:sp>
      </p:grpSp>
      <p:grpSp>
        <p:nvGrpSpPr>
          <p:cNvPr id="40" name="Group 40"/>
          <p:cNvGrpSpPr/>
          <p:nvPr/>
        </p:nvGrpSpPr>
        <p:grpSpPr>
          <a:xfrm>
            <a:off x="11919608" y="5041321"/>
            <a:ext cx="746986" cy="631706"/>
            <a:chOff x="0" y="0"/>
            <a:chExt cx="995981" cy="842275"/>
          </a:xfrm>
        </p:grpSpPr>
        <p:grpSp>
          <p:nvGrpSpPr>
            <p:cNvPr id="41" name="Group 41"/>
            <p:cNvGrpSpPr/>
            <p:nvPr/>
          </p:nvGrpSpPr>
          <p:grpSpPr>
            <a:xfrm>
              <a:off x="0" y="0"/>
              <a:ext cx="995981" cy="842275"/>
              <a:chOff x="0" y="0"/>
              <a:chExt cx="812800" cy="687364"/>
            </a:xfrm>
          </p:grpSpPr>
          <p:sp>
            <p:nvSpPr>
              <p:cNvPr id="42" name="Freeform 42"/>
              <p:cNvSpPr/>
              <p:nvPr/>
            </p:nvSpPr>
            <p:spPr>
              <a:xfrm>
                <a:off x="0" y="0"/>
                <a:ext cx="812800" cy="687364"/>
              </a:xfrm>
              <a:custGeom>
                <a:avLst/>
                <a:gdLst/>
                <a:ahLst/>
                <a:cxnLst/>
                <a:rect l="l" t="t" r="r" b="b"/>
                <a:pathLst>
                  <a:path w="812800" h="687364">
                    <a:moveTo>
                      <a:pt x="406400" y="0"/>
                    </a:moveTo>
                    <a:cubicBezTo>
                      <a:pt x="181951" y="0"/>
                      <a:pt x="0" y="153872"/>
                      <a:pt x="0" y="343682"/>
                    </a:cubicBezTo>
                    <a:cubicBezTo>
                      <a:pt x="0" y="533492"/>
                      <a:pt x="181951" y="687364"/>
                      <a:pt x="406400" y="687364"/>
                    </a:cubicBezTo>
                    <a:cubicBezTo>
                      <a:pt x="630849" y="687364"/>
                      <a:pt x="812800" y="533492"/>
                      <a:pt x="812800" y="343682"/>
                    </a:cubicBezTo>
                    <a:cubicBezTo>
                      <a:pt x="812800" y="153872"/>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43" name="TextBox 43"/>
              <p:cNvSpPr txBox="1"/>
              <p:nvPr/>
            </p:nvSpPr>
            <p:spPr>
              <a:xfrm>
                <a:off x="76200" y="26340"/>
                <a:ext cx="660400" cy="596583"/>
              </a:xfrm>
              <a:prstGeom prst="rect">
                <a:avLst/>
              </a:prstGeom>
            </p:spPr>
            <p:txBody>
              <a:bodyPr lIns="50800" tIns="50800" rIns="50800" bIns="50800" rtlCol="0" anchor="ctr"/>
              <a:lstStyle/>
              <a:p>
                <a:pPr marL="0" lvl="0" indent="0" algn="ctr">
                  <a:lnSpc>
                    <a:spcPts val="2659"/>
                  </a:lnSpc>
                </a:pPr>
                <a:endParaRPr/>
              </a:p>
            </p:txBody>
          </p:sp>
        </p:grpSp>
        <p:sp>
          <p:nvSpPr>
            <p:cNvPr id="44" name="TextBox 44"/>
            <p:cNvSpPr txBox="1"/>
            <p:nvPr/>
          </p:nvSpPr>
          <p:spPr>
            <a:xfrm>
              <a:off x="175623" y="245086"/>
              <a:ext cx="644736" cy="323528"/>
            </a:xfrm>
            <a:prstGeom prst="rect">
              <a:avLst/>
            </a:prstGeom>
          </p:spPr>
          <p:txBody>
            <a:bodyPr lIns="0" tIns="0" rIns="0" bIns="0" rtlCol="0" anchor="t">
              <a:spAutoFit/>
            </a:bodyPr>
            <a:lstStyle/>
            <a:p>
              <a:pPr marL="0" lvl="0" indent="0" algn="ctr">
                <a:lnSpc>
                  <a:spcPts val="1908"/>
                </a:lnSpc>
              </a:pPr>
              <a:r>
                <a:rPr lang="en-US" sz="1479" spc="-4">
                  <a:solidFill>
                    <a:srgbClr val="FFFFFF"/>
                  </a:solidFill>
                  <a:latin typeface="Poppins"/>
                  <a:ea typeface="Poppins"/>
                  <a:cs typeface="Poppins"/>
                  <a:sym typeface="Poppins"/>
                </a:rPr>
                <a:t>03</a:t>
              </a:r>
            </a:p>
          </p:txBody>
        </p:sp>
      </p:grpSp>
      <p:grpSp>
        <p:nvGrpSpPr>
          <p:cNvPr id="45" name="Group 45"/>
          <p:cNvGrpSpPr/>
          <p:nvPr/>
        </p:nvGrpSpPr>
        <p:grpSpPr>
          <a:xfrm>
            <a:off x="15791068" y="5041321"/>
            <a:ext cx="746986" cy="631706"/>
            <a:chOff x="0" y="0"/>
            <a:chExt cx="995981" cy="842275"/>
          </a:xfrm>
        </p:grpSpPr>
        <p:grpSp>
          <p:nvGrpSpPr>
            <p:cNvPr id="46" name="Group 46"/>
            <p:cNvGrpSpPr/>
            <p:nvPr/>
          </p:nvGrpSpPr>
          <p:grpSpPr>
            <a:xfrm>
              <a:off x="0" y="0"/>
              <a:ext cx="995981" cy="842275"/>
              <a:chOff x="0" y="0"/>
              <a:chExt cx="812800" cy="687364"/>
            </a:xfrm>
          </p:grpSpPr>
          <p:sp>
            <p:nvSpPr>
              <p:cNvPr id="47" name="Freeform 47"/>
              <p:cNvSpPr/>
              <p:nvPr/>
            </p:nvSpPr>
            <p:spPr>
              <a:xfrm>
                <a:off x="0" y="0"/>
                <a:ext cx="812800" cy="687364"/>
              </a:xfrm>
              <a:custGeom>
                <a:avLst/>
                <a:gdLst/>
                <a:ahLst/>
                <a:cxnLst/>
                <a:rect l="l" t="t" r="r" b="b"/>
                <a:pathLst>
                  <a:path w="812800" h="687364">
                    <a:moveTo>
                      <a:pt x="406400" y="0"/>
                    </a:moveTo>
                    <a:cubicBezTo>
                      <a:pt x="181951" y="0"/>
                      <a:pt x="0" y="153872"/>
                      <a:pt x="0" y="343682"/>
                    </a:cubicBezTo>
                    <a:cubicBezTo>
                      <a:pt x="0" y="533492"/>
                      <a:pt x="181951" y="687364"/>
                      <a:pt x="406400" y="687364"/>
                    </a:cubicBezTo>
                    <a:cubicBezTo>
                      <a:pt x="630849" y="687364"/>
                      <a:pt x="812800" y="533492"/>
                      <a:pt x="812800" y="343682"/>
                    </a:cubicBezTo>
                    <a:cubicBezTo>
                      <a:pt x="812800" y="15387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48" name="TextBox 48"/>
              <p:cNvSpPr txBox="1"/>
              <p:nvPr/>
            </p:nvSpPr>
            <p:spPr>
              <a:xfrm>
                <a:off x="76200" y="26340"/>
                <a:ext cx="660400" cy="596583"/>
              </a:xfrm>
              <a:prstGeom prst="rect">
                <a:avLst/>
              </a:prstGeom>
            </p:spPr>
            <p:txBody>
              <a:bodyPr lIns="50800" tIns="50800" rIns="50800" bIns="50800" rtlCol="0" anchor="ctr"/>
              <a:lstStyle/>
              <a:p>
                <a:pPr marL="0" lvl="0" indent="0" algn="ctr">
                  <a:lnSpc>
                    <a:spcPts val="2659"/>
                  </a:lnSpc>
                </a:pPr>
                <a:endParaRPr/>
              </a:p>
            </p:txBody>
          </p:sp>
        </p:grpSp>
        <p:sp>
          <p:nvSpPr>
            <p:cNvPr id="49" name="TextBox 49"/>
            <p:cNvSpPr txBox="1"/>
            <p:nvPr/>
          </p:nvSpPr>
          <p:spPr>
            <a:xfrm>
              <a:off x="175623" y="245086"/>
              <a:ext cx="644736" cy="323528"/>
            </a:xfrm>
            <a:prstGeom prst="rect">
              <a:avLst/>
            </a:prstGeom>
          </p:spPr>
          <p:txBody>
            <a:bodyPr lIns="0" tIns="0" rIns="0" bIns="0" rtlCol="0" anchor="t">
              <a:spAutoFit/>
            </a:bodyPr>
            <a:lstStyle/>
            <a:p>
              <a:pPr marL="0" lvl="0" indent="0" algn="ctr">
                <a:lnSpc>
                  <a:spcPts val="1908"/>
                </a:lnSpc>
              </a:pPr>
              <a:r>
                <a:rPr lang="en-US" sz="1479" spc="-4">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04</a:t>
              </a:r>
            </a:p>
          </p:txBody>
        </p:sp>
      </p:grpSp>
      <p:sp>
        <p:nvSpPr>
          <p:cNvPr id="50" name="TextBox 50"/>
          <p:cNvSpPr txBox="1"/>
          <p:nvPr/>
        </p:nvSpPr>
        <p:spPr>
          <a:xfrm>
            <a:off x="3363658" y="1946908"/>
            <a:ext cx="11560683" cy="858151"/>
          </a:xfrm>
          <a:prstGeom prst="rect">
            <a:avLst/>
          </a:prstGeom>
        </p:spPr>
        <p:txBody>
          <a:bodyPr lIns="0" tIns="0" rIns="0" bIns="0" rtlCol="0" anchor="t">
            <a:spAutoFit/>
          </a:bodyPr>
          <a:lstStyle/>
          <a:p>
            <a:pPr marL="0" lvl="0" indent="0" algn="ctr">
              <a:lnSpc>
                <a:spcPts val="6379"/>
              </a:lnSpc>
            </a:pPr>
            <a:r>
              <a:rPr lang="en-US" sz="6509" spc="-416">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KPI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28142" y="1358088"/>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7828142" y="4449725"/>
            <a:ext cx="9021242" cy="379246"/>
            <a:chOff x="0" y="0"/>
            <a:chExt cx="12028323" cy="505662"/>
          </a:xfrm>
        </p:grpSpPr>
        <p:sp>
          <p:nvSpPr>
            <p:cNvPr id="6" name="TextBox 6"/>
            <p:cNvSpPr txBox="1"/>
            <p:nvPr/>
          </p:nvSpPr>
          <p:spPr>
            <a:xfrm>
              <a:off x="0" y="-49117"/>
              <a:ext cx="11773903" cy="554779"/>
            </a:xfrm>
            <a:prstGeom prst="rect">
              <a:avLst/>
            </a:prstGeom>
          </p:spPr>
          <p:txBody>
            <a:bodyPr lIns="0" tIns="0" rIns="0" bIns="0" rtlCol="0" anchor="t">
              <a:spAutoFit/>
            </a:bodyPr>
            <a:lstStyle/>
            <a:p>
              <a:pPr marL="0" lvl="0" indent="0" algn="l">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IMPACT OF FESTIVALS ON CUSTOMER ORDERING BEHAVIOR</a:t>
              </a:r>
            </a:p>
          </p:txBody>
        </p:sp>
        <p:sp>
          <p:nvSpPr>
            <p:cNvPr id="7" name="Freeform 7"/>
            <p:cNvSpPr/>
            <p:nvPr/>
          </p:nvSpPr>
          <p:spPr>
            <a:xfrm rot="-8687136">
              <a:off x="11711303"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8" name="Group 8"/>
          <p:cNvGrpSpPr/>
          <p:nvPr/>
        </p:nvGrpSpPr>
        <p:grpSpPr>
          <a:xfrm>
            <a:off x="16438046" y="129"/>
            <a:ext cx="1849954" cy="1848037"/>
            <a:chOff x="0" y="0"/>
            <a:chExt cx="2466605" cy="2464050"/>
          </a:xfrm>
        </p:grpSpPr>
        <p:grpSp>
          <p:nvGrpSpPr>
            <p:cNvPr id="9" name="Group 9"/>
            <p:cNvGrpSpPr/>
            <p:nvPr/>
          </p:nvGrpSpPr>
          <p:grpSpPr>
            <a:xfrm>
              <a:off x="0" y="0"/>
              <a:ext cx="2466605" cy="2464050"/>
              <a:chOff x="0" y="0"/>
              <a:chExt cx="787566" cy="786750"/>
            </a:xfrm>
          </p:grpSpPr>
          <p:sp>
            <p:nvSpPr>
              <p:cNvPr id="10" name="Freeform 10"/>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1" name="TextBox 11"/>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05</a:t>
              </a:r>
            </a:p>
          </p:txBody>
        </p:sp>
      </p:grpSp>
      <p:sp>
        <p:nvSpPr>
          <p:cNvPr id="13" name="AutoShape 13"/>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4" name="AutoShape 14"/>
          <p:cNvSpPr/>
          <p:nvPr/>
        </p:nvSpPr>
        <p:spPr>
          <a:xfrm>
            <a:off x="0" y="5320770"/>
            <a:ext cx="6542795" cy="0"/>
          </a:xfrm>
          <a:prstGeom prst="line">
            <a:avLst/>
          </a:prstGeom>
          <a:ln w="19050" cap="rnd">
            <a:solidFill>
              <a:srgbClr val="3A58E4"/>
            </a:solidFill>
            <a:prstDash val="solid"/>
            <a:headEnd type="none" w="sm" len="sm"/>
            <a:tailEnd type="none" w="sm" len="sm"/>
          </a:ln>
        </p:spPr>
      </p:sp>
      <p:pic>
        <p:nvPicPr>
          <p:cNvPr id="15" name="Picture 15"/>
          <p:cNvPicPr>
            <a:picLocks noChangeAspect="1"/>
          </p:cNvPicPr>
          <p:nvPr/>
        </p:nvPicPr>
        <p:blipFill>
          <a:blip r:embed="rId3"/>
          <a:stretch>
            <a:fillRect/>
          </a:stretch>
        </p:blipFill>
        <p:spPr>
          <a:xfrm>
            <a:off x="469415" y="421079"/>
            <a:ext cx="6377051" cy="5253842"/>
          </a:xfrm>
          <a:prstGeom prst="rect">
            <a:avLst/>
          </a:prstGeom>
        </p:spPr>
      </p:pic>
      <p:sp>
        <p:nvSpPr>
          <p:cNvPr id="16" name="TextBox 16"/>
          <p:cNvSpPr txBox="1"/>
          <p:nvPr/>
        </p:nvSpPr>
        <p:spPr>
          <a:xfrm>
            <a:off x="8056208" y="1310959"/>
            <a:ext cx="7107541" cy="2417185"/>
          </a:xfrm>
          <a:prstGeom prst="rect">
            <a:avLst/>
          </a:prstGeom>
        </p:spPr>
        <p:txBody>
          <a:bodyPr lIns="0" tIns="0" rIns="0" bIns="0" rtlCol="0" anchor="t">
            <a:spAutoFit/>
          </a:bodyPr>
          <a:lstStyle/>
          <a:p>
            <a:pPr marL="0" lvl="0" indent="0" algn="l">
              <a:lnSpc>
                <a:spcPts val="9244"/>
              </a:lnSpc>
            </a:pPr>
            <a:r>
              <a:rPr lang="en-US" sz="9433" spc="-603">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Festival</a:t>
            </a:r>
          </a:p>
          <a:p>
            <a:pPr marL="0" lvl="0" indent="0" algn="l">
              <a:lnSpc>
                <a:spcPts val="9244"/>
              </a:lnSpc>
            </a:pPr>
            <a:r>
              <a:rPr lang="en-US" sz="9433" spc="-603">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Order Analysis</a:t>
            </a:r>
          </a:p>
        </p:txBody>
      </p:sp>
      <p:sp>
        <p:nvSpPr>
          <p:cNvPr id="17" name="TextBox 17"/>
          <p:cNvSpPr txBox="1"/>
          <p:nvPr/>
        </p:nvSpPr>
        <p:spPr>
          <a:xfrm>
            <a:off x="7828142" y="5535379"/>
            <a:ext cx="9021242" cy="3530662"/>
          </a:xfrm>
          <a:prstGeom prst="rect">
            <a:avLst/>
          </a:prstGeom>
        </p:spPr>
        <p:txBody>
          <a:bodyPr lIns="0" tIns="0" rIns="0" bIns="0" rtlCol="0" anchor="t">
            <a:spAutoFit/>
          </a:bodyPr>
          <a:lstStyle/>
          <a:p>
            <a:pPr marL="0" lvl="0" indent="0" algn="just">
              <a:lnSpc>
                <a:spcPts val="2796"/>
              </a:lnSpc>
            </a:pPr>
            <a:r>
              <a:rPr lang="en-US" sz="1997" spc="-5">
                <a:solidFill>
                  <a:srgbClr val="3A58E4"/>
                </a:solidFill>
                <a:latin typeface="Poppins"/>
                <a:ea typeface="Poppins"/>
                <a:cs typeface="Poppins"/>
                <a:sym typeface="Poppins"/>
              </a:rPr>
              <a:t>Analysis of order distribution reveals a stark contrast between festival and non-festival periods. Non-festival days account for 44,469 orders, representing the overwhelming majority of total business volume. Festival orders account for only 896 orders, highlighting a significant untapped opportunity. This gap suggests that customer ordering behavior is not strongly influenced by festive seasons — presenting a clear opportunity to introduce targeted marketing campaigns, promotional discounts, and special offers during festival periods to drive order volume and boost revenue during these high-engagement windows.</a:t>
            </a:r>
          </a:p>
        </p:txBody>
      </p:sp>
      <p:sp>
        <p:nvSpPr>
          <p:cNvPr id="18" name="TextBox 18"/>
          <p:cNvSpPr txBox="1"/>
          <p:nvPr/>
        </p:nvSpPr>
        <p:spPr>
          <a:xfrm>
            <a:off x="1736067" y="8354779"/>
            <a:ext cx="3088700" cy="711262"/>
          </a:xfrm>
          <a:prstGeom prst="rect">
            <a:avLst/>
          </a:prstGeom>
        </p:spPr>
        <p:txBody>
          <a:bodyPr lIns="0" tIns="0" rIns="0" bIns="0" rtlCol="0" anchor="t">
            <a:spAutoFit/>
          </a:bodyPr>
          <a:lstStyle/>
          <a:p>
            <a:pPr marL="0" lvl="0" indent="0" algn="ctr">
              <a:lnSpc>
                <a:spcPts val="2796"/>
              </a:lnSpc>
            </a:pPr>
            <a:r>
              <a:rPr lang="en-US" sz="1997" spc="-5">
                <a:solidFill>
                  <a:srgbClr val="3A58E4"/>
                </a:solidFill>
                <a:latin typeface="Poppins"/>
                <a:ea typeface="Poppins"/>
                <a:cs typeface="Poppins"/>
                <a:sym typeface="Poppins"/>
              </a:rPr>
              <a:t>Festival orders vs 44,469 non-festival orders</a:t>
            </a:r>
          </a:p>
        </p:txBody>
      </p:sp>
      <p:sp>
        <p:nvSpPr>
          <p:cNvPr id="19" name="TextBox 19"/>
          <p:cNvSpPr txBox="1"/>
          <p:nvPr/>
        </p:nvSpPr>
        <p:spPr>
          <a:xfrm>
            <a:off x="722135" y="5598177"/>
            <a:ext cx="5116565" cy="2481203"/>
          </a:xfrm>
          <a:prstGeom prst="rect">
            <a:avLst/>
          </a:prstGeom>
        </p:spPr>
        <p:txBody>
          <a:bodyPr lIns="0" tIns="0" rIns="0" bIns="0" rtlCol="0" anchor="t">
            <a:spAutoFit/>
          </a:bodyPr>
          <a:lstStyle/>
          <a:p>
            <a:pPr marL="0" lvl="0" indent="0" algn="ctr">
              <a:lnSpc>
                <a:spcPts val="20215"/>
              </a:lnSpc>
              <a:spcBef>
                <a:spcPct val="0"/>
              </a:spcBef>
            </a:pPr>
            <a:r>
              <a:rPr lang="en-US" sz="14439" spc="-924">
                <a:gradFill>
                  <a:gsLst>
                    <a:gs pos="0">
                      <a:srgbClr val="3A58E4">
                        <a:alpha val="100000"/>
                      </a:srgbClr>
                    </a:gs>
                    <a:gs pos="100000">
                      <a:srgbClr val="293E9C">
                        <a:alpha val="100000"/>
                      </a:srgbClr>
                    </a:gs>
                  </a:gsLst>
                  <a:path path="circle">
                    <a:fillToRect r="100000" b="100000"/>
                  </a:path>
                  <a:tileRect l="-100000" t="-100000"/>
                </a:gradFill>
                <a:latin typeface="Bricolage Grotesque"/>
                <a:ea typeface="Bricolage Grotesque"/>
                <a:cs typeface="Bricolage Grotesque"/>
                <a:sym typeface="Bricolage Grotesque"/>
              </a:rPr>
              <a:t>896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938179" cy="10287000"/>
            <a:chOff x="0" y="0"/>
            <a:chExt cx="1827339" cy="2709333"/>
          </a:xfrm>
        </p:grpSpPr>
        <p:sp>
          <p:nvSpPr>
            <p:cNvPr id="3" name="Freeform 3"/>
            <p:cNvSpPr/>
            <p:nvPr/>
          </p:nvSpPr>
          <p:spPr>
            <a:xfrm>
              <a:off x="0" y="0"/>
              <a:ext cx="1827339" cy="2709333"/>
            </a:xfrm>
            <a:custGeom>
              <a:avLst/>
              <a:gdLst/>
              <a:ahLst/>
              <a:cxnLst/>
              <a:rect l="l" t="t" r="r" b="b"/>
              <a:pathLst>
                <a:path w="1827339" h="2709333">
                  <a:moveTo>
                    <a:pt x="0" y="0"/>
                  </a:moveTo>
                  <a:lnTo>
                    <a:pt x="1827339" y="0"/>
                  </a:lnTo>
                  <a:lnTo>
                    <a:pt x="1827339"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827339"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5343219" y="4032536"/>
            <a:ext cx="3189919" cy="620584"/>
          </a:xfrm>
          <a:custGeom>
            <a:avLst/>
            <a:gdLst/>
            <a:ahLst/>
            <a:cxnLst/>
            <a:rect l="l" t="t" r="r" b="b"/>
            <a:pathLst>
              <a:path w="3189919" h="620584">
                <a:moveTo>
                  <a:pt x="0" y="0"/>
                </a:moveTo>
                <a:lnTo>
                  <a:pt x="3189919" y="0"/>
                </a:lnTo>
                <a:lnTo>
                  <a:pt x="3189919" y="620584"/>
                </a:lnTo>
                <a:lnTo>
                  <a:pt x="0" y="620584"/>
                </a:lnTo>
                <a:lnTo>
                  <a:pt x="0" y="0"/>
                </a:lnTo>
                <a:close/>
              </a:path>
            </a:pathLst>
          </a:custGeom>
          <a:blipFill>
            <a:blip r:embed="rId2"/>
            <a:stretch>
              <a:fillRect/>
            </a:stretch>
          </a:blipFill>
        </p:spPr>
      </p:sp>
      <p:grpSp>
        <p:nvGrpSpPr>
          <p:cNvPr id="6" name="Group 6"/>
          <p:cNvGrpSpPr/>
          <p:nvPr/>
        </p:nvGrpSpPr>
        <p:grpSpPr>
          <a:xfrm>
            <a:off x="5459316" y="1438329"/>
            <a:ext cx="2920486" cy="2916826"/>
            <a:chOff x="0" y="0"/>
            <a:chExt cx="567580" cy="566868"/>
          </a:xfrm>
        </p:grpSpPr>
        <p:sp>
          <p:nvSpPr>
            <p:cNvPr id="7" name="Freeform 7"/>
            <p:cNvSpPr/>
            <p:nvPr/>
          </p:nvSpPr>
          <p:spPr>
            <a:xfrm>
              <a:off x="0" y="0"/>
              <a:ext cx="567580" cy="566868"/>
            </a:xfrm>
            <a:custGeom>
              <a:avLst/>
              <a:gdLst/>
              <a:ahLst/>
              <a:cxnLst/>
              <a:rect l="l" t="t" r="r" b="b"/>
              <a:pathLst>
                <a:path w="567580" h="566868">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8" name="TextBox 8"/>
            <p:cNvSpPr txBox="1"/>
            <p:nvPr/>
          </p:nvSpPr>
          <p:spPr>
            <a:xfrm>
              <a:off x="0" y="28575"/>
              <a:ext cx="567580" cy="538293"/>
            </a:xfrm>
            <a:prstGeom prst="rect">
              <a:avLst/>
            </a:prstGeom>
          </p:spPr>
          <p:txBody>
            <a:bodyPr lIns="65745" tIns="65745" rIns="65745" bIns="65745" rtlCol="0" anchor="ctr"/>
            <a:lstStyle/>
            <a:p>
              <a:pPr marL="0" lvl="0" indent="0" algn="ctr">
                <a:lnSpc>
                  <a:spcPts val="2460"/>
                </a:lnSpc>
              </a:pPr>
              <a:endParaRPr/>
            </a:p>
          </p:txBody>
        </p:sp>
      </p:grpSp>
      <p:sp>
        <p:nvSpPr>
          <p:cNvPr id="9" name="TextBox 9"/>
          <p:cNvSpPr txBox="1"/>
          <p:nvPr/>
        </p:nvSpPr>
        <p:spPr>
          <a:xfrm>
            <a:off x="5708475" y="2199673"/>
            <a:ext cx="2459408" cy="807581"/>
          </a:xfrm>
          <a:prstGeom prst="rect">
            <a:avLst/>
          </a:prstGeom>
        </p:spPr>
        <p:txBody>
          <a:bodyPr lIns="0" tIns="0" rIns="0" bIns="0" rtlCol="0" anchor="t">
            <a:spAutoFit/>
          </a:bodyPr>
          <a:lstStyle/>
          <a:p>
            <a:pPr marL="0" lvl="0" indent="0" algn="ctr">
              <a:lnSpc>
                <a:spcPts val="6024"/>
              </a:lnSpc>
            </a:pPr>
            <a:r>
              <a:rPr lang="en-US" sz="6085" b="1" spc="-182">
                <a:solidFill>
                  <a:srgbClr val="FFFFFF"/>
                </a:solidFill>
                <a:latin typeface="Bricolage Grotesque Bold"/>
                <a:ea typeface="Bricolage Grotesque Bold"/>
                <a:cs typeface="Bricolage Grotesque Bold"/>
                <a:sym typeface="Bricolage Grotesque Bold"/>
              </a:rPr>
              <a:t>15,477</a:t>
            </a:r>
          </a:p>
        </p:txBody>
      </p:sp>
      <p:sp>
        <p:nvSpPr>
          <p:cNvPr id="10" name="TextBox 10"/>
          <p:cNvSpPr txBox="1"/>
          <p:nvPr/>
        </p:nvSpPr>
        <p:spPr>
          <a:xfrm>
            <a:off x="5940959" y="3181841"/>
            <a:ext cx="1957200" cy="526269"/>
          </a:xfrm>
          <a:prstGeom prst="rect">
            <a:avLst/>
          </a:prstGeom>
        </p:spPr>
        <p:txBody>
          <a:bodyPr lIns="0" tIns="0" rIns="0" bIns="0" rtlCol="0" anchor="t">
            <a:spAutoFit/>
          </a:bodyPr>
          <a:lstStyle/>
          <a:p>
            <a:pPr marL="0" lvl="0" indent="0" algn="ctr">
              <a:lnSpc>
                <a:spcPts val="2116"/>
              </a:lnSpc>
            </a:pPr>
            <a:r>
              <a:rPr lang="en-US" sz="1512" spc="-37">
                <a:solidFill>
                  <a:srgbClr val="FFFFFF"/>
                </a:solidFill>
                <a:latin typeface="Poppins"/>
                <a:ea typeface="Poppins"/>
                <a:cs typeface="Poppins"/>
                <a:sym typeface="Poppins"/>
              </a:rPr>
              <a:t>LOW TRAFFIC PEAK DELIVERIES</a:t>
            </a:r>
          </a:p>
        </p:txBody>
      </p:sp>
      <p:sp>
        <p:nvSpPr>
          <p:cNvPr id="11" name="Freeform 11"/>
          <p:cNvSpPr/>
          <p:nvPr/>
        </p:nvSpPr>
        <p:spPr>
          <a:xfrm>
            <a:off x="1078057" y="4178057"/>
            <a:ext cx="959811" cy="958024"/>
          </a:xfrm>
          <a:custGeom>
            <a:avLst/>
            <a:gdLst/>
            <a:ahLst/>
            <a:cxnLst/>
            <a:rect l="l" t="t" r="r" b="b"/>
            <a:pathLst>
              <a:path w="959811" h="958024">
                <a:moveTo>
                  <a:pt x="0" y="0"/>
                </a:moveTo>
                <a:lnTo>
                  <a:pt x="959811" y="0"/>
                </a:lnTo>
                <a:lnTo>
                  <a:pt x="959811" y="958024"/>
                </a:lnTo>
                <a:lnTo>
                  <a:pt x="0" y="958024"/>
                </a:lnTo>
                <a:lnTo>
                  <a:pt x="0" y="0"/>
                </a:lnTo>
                <a:close/>
              </a:path>
            </a:pathLst>
          </a:custGeom>
          <a:blipFill>
            <a:blip r:embed="rId3"/>
            <a:stretch>
              <a:fillRect/>
            </a:stretch>
          </a:blipFill>
        </p:spPr>
      </p:sp>
      <p:sp>
        <p:nvSpPr>
          <p:cNvPr id="12" name="TextBox 12"/>
          <p:cNvSpPr txBox="1"/>
          <p:nvPr/>
        </p:nvSpPr>
        <p:spPr>
          <a:xfrm>
            <a:off x="1028700" y="5619299"/>
            <a:ext cx="4378886" cy="396890"/>
          </a:xfrm>
          <a:prstGeom prst="rect">
            <a:avLst/>
          </a:prstGeom>
        </p:spPr>
        <p:txBody>
          <a:bodyPr lIns="0" tIns="0" rIns="0" bIns="0" rtlCol="0" anchor="t">
            <a:spAutoFit/>
          </a:bodyPr>
          <a:lstStyle/>
          <a:p>
            <a:pPr marL="0" lvl="0" indent="0" algn="l">
              <a:lnSpc>
                <a:spcPts val="3414"/>
              </a:lnSpc>
            </a:pPr>
            <a:r>
              <a:rPr lang="en-US" sz="1580" b="1">
                <a:solidFill>
                  <a:srgbClr val="FFFFFF"/>
                </a:solidFill>
                <a:latin typeface="Poppins Bold"/>
                <a:ea typeface="Poppins Bold"/>
                <a:cs typeface="Poppins Bold"/>
                <a:sym typeface="Poppins Bold"/>
              </a:rPr>
              <a:t>LOW TRAFFIC</a:t>
            </a:r>
          </a:p>
        </p:txBody>
      </p:sp>
      <p:sp>
        <p:nvSpPr>
          <p:cNvPr id="13" name="TextBox 13"/>
          <p:cNvSpPr txBox="1"/>
          <p:nvPr/>
        </p:nvSpPr>
        <p:spPr>
          <a:xfrm>
            <a:off x="1028700" y="6215298"/>
            <a:ext cx="4378886" cy="426862"/>
          </a:xfrm>
          <a:prstGeom prst="rect">
            <a:avLst/>
          </a:prstGeom>
        </p:spPr>
        <p:txBody>
          <a:bodyPr lIns="0" tIns="0" rIns="0" bIns="0" rtlCol="0" anchor="t">
            <a:spAutoFit/>
          </a:bodyPr>
          <a:lstStyle/>
          <a:p>
            <a:pPr marL="0" lvl="0" indent="0" algn="just">
              <a:lnSpc>
                <a:spcPts val="1640"/>
              </a:lnSpc>
            </a:pPr>
            <a:r>
              <a:rPr lang="en-US" sz="1344">
                <a:solidFill>
                  <a:srgbClr val="FFFFFF"/>
                </a:solidFill>
                <a:latin typeface="Poppins"/>
                <a:ea typeface="Poppins"/>
                <a:cs typeface="Poppins"/>
                <a:sym typeface="Poppins"/>
              </a:rPr>
              <a:t>15,477 deliveries recorded under low traffic — the highest among all traffic conditions.</a:t>
            </a:r>
          </a:p>
        </p:txBody>
      </p:sp>
      <p:grpSp>
        <p:nvGrpSpPr>
          <p:cNvPr id="14" name="Group 14"/>
          <p:cNvGrpSpPr/>
          <p:nvPr/>
        </p:nvGrpSpPr>
        <p:grpSpPr>
          <a:xfrm>
            <a:off x="1028700" y="7234634"/>
            <a:ext cx="4378886" cy="714076"/>
            <a:chOff x="0" y="0"/>
            <a:chExt cx="5838515" cy="952101"/>
          </a:xfrm>
        </p:grpSpPr>
        <p:sp>
          <p:nvSpPr>
            <p:cNvPr id="15" name="TextBox 15"/>
            <p:cNvSpPr txBox="1"/>
            <p:nvPr/>
          </p:nvSpPr>
          <p:spPr>
            <a:xfrm>
              <a:off x="0" y="-161925"/>
              <a:ext cx="5838515" cy="475211"/>
            </a:xfrm>
            <a:prstGeom prst="rect">
              <a:avLst/>
            </a:prstGeom>
          </p:spPr>
          <p:txBody>
            <a:bodyPr lIns="0" tIns="0" rIns="0" bIns="0" rtlCol="0" anchor="t">
              <a:spAutoFit/>
            </a:bodyPr>
            <a:lstStyle/>
            <a:p>
              <a:pPr marL="0" lvl="0" indent="0" algn="l">
                <a:lnSpc>
                  <a:spcPts val="3414"/>
                </a:lnSpc>
              </a:pPr>
              <a:r>
                <a:rPr lang="en-US" sz="1580" b="1">
                  <a:solidFill>
                    <a:srgbClr val="FFFFFF"/>
                  </a:solidFill>
                  <a:latin typeface="Poppins Bold"/>
                  <a:ea typeface="Poppins Bold"/>
                  <a:cs typeface="Poppins Bold"/>
                  <a:sym typeface="Poppins Bold"/>
                </a:rPr>
                <a:t>JAM &amp; MEDIUM TRAFFIC</a:t>
              </a:r>
            </a:p>
          </p:txBody>
        </p:sp>
        <p:sp>
          <p:nvSpPr>
            <p:cNvPr id="16" name="TextBox 16"/>
            <p:cNvSpPr txBox="1"/>
            <p:nvPr/>
          </p:nvSpPr>
          <p:spPr>
            <a:xfrm>
              <a:off x="0" y="389302"/>
              <a:ext cx="5838515" cy="562799"/>
            </a:xfrm>
            <a:prstGeom prst="rect">
              <a:avLst/>
            </a:prstGeom>
          </p:spPr>
          <p:txBody>
            <a:bodyPr lIns="0" tIns="0" rIns="0" bIns="0" rtlCol="0" anchor="t">
              <a:spAutoFit/>
            </a:bodyPr>
            <a:lstStyle/>
            <a:p>
              <a:pPr marL="0" lvl="0" indent="0" algn="just">
                <a:lnSpc>
                  <a:spcPts val="1640"/>
                </a:lnSpc>
              </a:pPr>
              <a:r>
                <a:rPr lang="en-US" sz="1344">
                  <a:solidFill>
                    <a:srgbClr val="FFFFFF"/>
                  </a:solidFill>
                  <a:latin typeface="Poppins"/>
                  <a:ea typeface="Poppins"/>
                  <a:cs typeface="Poppins"/>
                  <a:sym typeface="Poppins"/>
                </a:rPr>
                <a:t>Jam traffic: 14,143 deliveries. Medium traffic: 11,548 deliveries.</a:t>
              </a:r>
            </a:p>
          </p:txBody>
        </p:sp>
      </p:grpSp>
      <p:grpSp>
        <p:nvGrpSpPr>
          <p:cNvPr id="17" name="Group 17"/>
          <p:cNvGrpSpPr/>
          <p:nvPr/>
        </p:nvGrpSpPr>
        <p:grpSpPr>
          <a:xfrm>
            <a:off x="1028700" y="8544224"/>
            <a:ext cx="4378886" cy="714076"/>
            <a:chOff x="0" y="0"/>
            <a:chExt cx="5838515" cy="952101"/>
          </a:xfrm>
        </p:grpSpPr>
        <p:sp>
          <p:nvSpPr>
            <p:cNvPr id="18" name="TextBox 18"/>
            <p:cNvSpPr txBox="1"/>
            <p:nvPr/>
          </p:nvSpPr>
          <p:spPr>
            <a:xfrm>
              <a:off x="0" y="-161925"/>
              <a:ext cx="5838515" cy="475211"/>
            </a:xfrm>
            <a:prstGeom prst="rect">
              <a:avLst/>
            </a:prstGeom>
          </p:spPr>
          <p:txBody>
            <a:bodyPr lIns="0" tIns="0" rIns="0" bIns="0" rtlCol="0" anchor="t">
              <a:spAutoFit/>
            </a:bodyPr>
            <a:lstStyle/>
            <a:p>
              <a:pPr marL="0" lvl="0" indent="0" algn="l">
                <a:lnSpc>
                  <a:spcPts val="3414"/>
                </a:lnSpc>
              </a:pPr>
              <a:r>
                <a:rPr lang="en-US" sz="1580" b="1">
                  <a:solidFill>
                    <a:srgbClr val="FFFFFF"/>
                  </a:solidFill>
                  <a:latin typeface="Poppins Bold"/>
                  <a:ea typeface="Poppins Bold"/>
                  <a:cs typeface="Poppins Bold"/>
                  <a:sym typeface="Poppins Bold"/>
                </a:rPr>
                <a:t>HIGH TRAFFIC</a:t>
              </a:r>
            </a:p>
          </p:txBody>
        </p:sp>
        <p:sp>
          <p:nvSpPr>
            <p:cNvPr id="19" name="TextBox 19"/>
            <p:cNvSpPr txBox="1"/>
            <p:nvPr/>
          </p:nvSpPr>
          <p:spPr>
            <a:xfrm>
              <a:off x="0" y="389302"/>
              <a:ext cx="5838515" cy="562799"/>
            </a:xfrm>
            <a:prstGeom prst="rect">
              <a:avLst/>
            </a:prstGeom>
          </p:spPr>
          <p:txBody>
            <a:bodyPr lIns="0" tIns="0" rIns="0" bIns="0" rtlCol="0" anchor="t">
              <a:spAutoFit/>
            </a:bodyPr>
            <a:lstStyle/>
            <a:p>
              <a:pPr marL="0" lvl="0" indent="0" algn="just">
                <a:lnSpc>
                  <a:spcPts val="1640"/>
                </a:lnSpc>
              </a:pPr>
              <a:r>
                <a:rPr lang="en-US" sz="1344">
                  <a:solidFill>
                    <a:srgbClr val="FFFFFF"/>
                  </a:solidFill>
                  <a:latin typeface="Poppins"/>
                  <a:ea typeface="Poppins"/>
                  <a:cs typeface="Poppins"/>
                  <a:sym typeface="Poppins"/>
                </a:rPr>
                <a:t>Only 4,425 deliveries under high traffic — the lowest volume, reflecting major efficiency constraints.</a:t>
              </a:r>
            </a:p>
          </p:txBody>
        </p:sp>
      </p:grpSp>
      <p:grpSp>
        <p:nvGrpSpPr>
          <p:cNvPr id="20" name="Group 20"/>
          <p:cNvGrpSpPr/>
          <p:nvPr/>
        </p:nvGrpSpPr>
        <p:grpSpPr>
          <a:xfrm>
            <a:off x="9345491" y="1449662"/>
            <a:ext cx="7522404" cy="7477640"/>
            <a:chOff x="0" y="0"/>
            <a:chExt cx="10029872" cy="9970187"/>
          </a:xfrm>
        </p:grpSpPr>
        <p:sp>
          <p:nvSpPr>
            <p:cNvPr id="21" name="TextBox 21"/>
            <p:cNvSpPr txBox="1"/>
            <p:nvPr/>
          </p:nvSpPr>
          <p:spPr>
            <a:xfrm>
              <a:off x="1033544" y="-57150"/>
              <a:ext cx="7126880" cy="393813"/>
            </a:xfrm>
            <a:prstGeom prst="rect">
              <a:avLst/>
            </a:prstGeom>
          </p:spPr>
          <p:txBody>
            <a:bodyPr lIns="0" tIns="0" rIns="0" bIns="0" rtlCol="0" anchor="t">
              <a:spAutoFit/>
            </a:bodyPr>
            <a:lstStyle/>
            <a:p>
              <a:pPr marL="0" lvl="0" indent="0" algn="just">
                <a:lnSpc>
                  <a:spcPts val="2357"/>
                </a:lnSpc>
              </a:pPr>
              <a:r>
                <a:rPr lang="en-US" sz="1684" b="1" spc="-42">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LOW TRAFFIC</a:t>
              </a:r>
            </a:p>
          </p:txBody>
        </p:sp>
        <p:sp>
          <p:nvSpPr>
            <p:cNvPr id="22" name="TextBox 22"/>
            <p:cNvSpPr txBox="1"/>
            <p:nvPr/>
          </p:nvSpPr>
          <p:spPr>
            <a:xfrm>
              <a:off x="1033544" y="1832723"/>
              <a:ext cx="8996329" cy="1052894"/>
            </a:xfrm>
            <a:prstGeom prst="rect">
              <a:avLst/>
            </a:prstGeom>
          </p:spPr>
          <p:txBody>
            <a:bodyPr lIns="0" tIns="0" rIns="0" bIns="0" rtlCol="0" anchor="t">
              <a:spAutoFit/>
            </a:bodyPr>
            <a:lstStyle/>
            <a:p>
              <a:pPr marL="0" lvl="0" indent="0" algn="just">
                <a:lnSpc>
                  <a:spcPts val="2149"/>
                </a:lnSpc>
              </a:pPr>
              <a:r>
                <a:rPr lang="en-US" sz="1535" spc="-38">
                  <a:solidFill>
                    <a:srgbClr val="3A58E4"/>
                  </a:solidFill>
                  <a:latin typeface="Poppins"/>
                  <a:ea typeface="Poppins"/>
                  <a:cs typeface="Poppins"/>
                  <a:sym typeface="Poppins"/>
                </a:rPr>
                <a:t>Low traffic conditions account for the highest delivery volume at 15,477 orders. Deliveries are faster, more predictable, and operationally efficient, making low-traffic periods the most productive for fleet performance.</a:t>
              </a:r>
            </a:p>
          </p:txBody>
        </p:sp>
        <p:sp>
          <p:nvSpPr>
            <p:cNvPr id="23" name="TextBox 23"/>
            <p:cNvSpPr txBox="1"/>
            <p:nvPr/>
          </p:nvSpPr>
          <p:spPr>
            <a:xfrm>
              <a:off x="1033544" y="3485135"/>
              <a:ext cx="7126880" cy="393813"/>
            </a:xfrm>
            <a:prstGeom prst="rect">
              <a:avLst/>
            </a:prstGeom>
          </p:spPr>
          <p:txBody>
            <a:bodyPr lIns="0" tIns="0" rIns="0" bIns="0" rtlCol="0" anchor="t">
              <a:spAutoFit/>
            </a:bodyPr>
            <a:lstStyle/>
            <a:p>
              <a:pPr marL="0" lvl="0" indent="0" algn="just">
                <a:lnSpc>
                  <a:spcPts val="2357"/>
                </a:lnSpc>
              </a:pPr>
              <a:r>
                <a:rPr lang="en-US" sz="1684" b="1" spc="-42">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JAM &amp; MEDIUM TRAFFIC</a:t>
              </a:r>
            </a:p>
          </p:txBody>
        </p:sp>
        <p:sp>
          <p:nvSpPr>
            <p:cNvPr id="24" name="TextBox 24"/>
            <p:cNvSpPr txBox="1"/>
            <p:nvPr/>
          </p:nvSpPr>
          <p:spPr>
            <a:xfrm>
              <a:off x="1033544" y="5375008"/>
              <a:ext cx="8996329" cy="1052894"/>
            </a:xfrm>
            <a:prstGeom prst="rect">
              <a:avLst/>
            </a:prstGeom>
          </p:spPr>
          <p:txBody>
            <a:bodyPr lIns="0" tIns="0" rIns="0" bIns="0" rtlCol="0" anchor="t">
              <a:spAutoFit/>
            </a:bodyPr>
            <a:lstStyle/>
            <a:p>
              <a:pPr marL="0" lvl="0" indent="0" algn="just">
                <a:lnSpc>
                  <a:spcPts val="2149"/>
                </a:lnSpc>
              </a:pPr>
              <a:r>
                <a:rPr lang="en-US" sz="1535" spc="-38">
                  <a:solidFill>
                    <a:srgbClr val="3A58E4"/>
                  </a:solidFill>
                  <a:latin typeface="Poppins"/>
                  <a:ea typeface="Poppins"/>
                  <a:cs typeface="Poppins"/>
                  <a:sym typeface="Poppins"/>
                </a:rPr>
                <a:t>Jam traffic contributes 14,143 deliveries while medium traffic accounts for 11,548. These conditions introduce delays and route unpredictability, highlighting the need for dynamic traffic-aware routing solutions.</a:t>
              </a:r>
            </a:p>
          </p:txBody>
        </p:sp>
        <p:sp>
          <p:nvSpPr>
            <p:cNvPr id="25" name="TextBox 25"/>
            <p:cNvSpPr txBox="1"/>
            <p:nvPr/>
          </p:nvSpPr>
          <p:spPr>
            <a:xfrm>
              <a:off x="1033544" y="7027419"/>
              <a:ext cx="7126880" cy="393813"/>
            </a:xfrm>
            <a:prstGeom prst="rect">
              <a:avLst/>
            </a:prstGeom>
          </p:spPr>
          <p:txBody>
            <a:bodyPr lIns="0" tIns="0" rIns="0" bIns="0" rtlCol="0" anchor="t">
              <a:spAutoFit/>
            </a:bodyPr>
            <a:lstStyle/>
            <a:p>
              <a:pPr marL="0" lvl="0" indent="0" algn="just">
                <a:lnSpc>
                  <a:spcPts val="2357"/>
                </a:lnSpc>
              </a:pPr>
              <a:r>
                <a:rPr lang="en-US" sz="1684" b="1" spc="-42">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HIGH TRAFFIC IMPACT</a:t>
              </a:r>
            </a:p>
          </p:txBody>
        </p:sp>
        <p:sp>
          <p:nvSpPr>
            <p:cNvPr id="26" name="TextBox 26"/>
            <p:cNvSpPr txBox="1"/>
            <p:nvPr/>
          </p:nvSpPr>
          <p:spPr>
            <a:xfrm>
              <a:off x="1033544" y="8917292"/>
              <a:ext cx="8996329" cy="1052894"/>
            </a:xfrm>
            <a:prstGeom prst="rect">
              <a:avLst/>
            </a:prstGeom>
          </p:spPr>
          <p:txBody>
            <a:bodyPr lIns="0" tIns="0" rIns="0" bIns="0" rtlCol="0" anchor="t">
              <a:spAutoFit/>
            </a:bodyPr>
            <a:lstStyle/>
            <a:p>
              <a:pPr marL="0" lvl="0" indent="0" algn="just">
                <a:lnSpc>
                  <a:spcPts val="2149"/>
                </a:lnSpc>
              </a:pPr>
              <a:r>
                <a:rPr lang="en-US" sz="1535" spc="-38">
                  <a:solidFill>
                    <a:srgbClr val="3A58E4"/>
                  </a:solidFill>
                  <a:latin typeface="Poppins"/>
                  <a:ea typeface="Poppins"/>
                  <a:cs typeface="Poppins"/>
                  <a:sym typeface="Poppins"/>
                </a:rPr>
                <a:t>High traffic conditions result in only 4,425 deliveries — the lowest count. Traffic density directly impacts delivery efficiency and route planning, signaling a critical area for operational improvement and optimization.</a:t>
              </a:r>
            </a:p>
          </p:txBody>
        </p:sp>
        <p:sp>
          <p:nvSpPr>
            <p:cNvPr id="27" name="TextBox 27"/>
            <p:cNvSpPr txBox="1"/>
            <p:nvPr/>
          </p:nvSpPr>
          <p:spPr>
            <a:xfrm>
              <a:off x="0" y="1216347"/>
              <a:ext cx="643052" cy="258778"/>
            </a:xfrm>
            <a:prstGeom prst="rect">
              <a:avLst/>
            </a:prstGeom>
          </p:spPr>
          <p:txBody>
            <a:bodyPr lIns="0" tIns="0" rIns="0" bIns="0" rtlCol="0" anchor="t">
              <a:spAutoFit/>
            </a:bodyPr>
            <a:lstStyle/>
            <a:p>
              <a:pPr marL="0" lvl="0" indent="0" algn="l">
                <a:lnSpc>
                  <a:spcPts val="1370"/>
                </a:lnSpc>
              </a:pPr>
              <a:r>
                <a:rPr lang="en-US" sz="1384" spc="-41">
                  <a:solidFill>
                    <a:srgbClr val="3A58E4"/>
                  </a:solidFill>
                  <a:latin typeface="Bricolage Grotesque"/>
                  <a:ea typeface="Bricolage Grotesque"/>
                  <a:cs typeface="Bricolage Grotesque"/>
                  <a:sym typeface="Bricolage Grotesque"/>
                </a:rPr>
                <a:t>01</a:t>
              </a:r>
            </a:p>
          </p:txBody>
        </p:sp>
        <p:sp>
          <p:nvSpPr>
            <p:cNvPr id="28" name="TextBox 28"/>
            <p:cNvSpPr txBox="1"/>
            <p:nvPr/>
          </p:nvSpPr>
          <p:spPr>
            <a:xfrm>
              <a:off x="0" y="4758631"/>
              <a:ext cx="643052" cy="258778"/>
            </a:xfrm>
            <a:prstGeom prst="rect">
              <a:avLst/>
            </a:prstGeom>
          </p:spPr>
          <p:txBody>
            <a:bodyPr lIns="0" tIns="0" rIns="0" bIns="0" rtlCol="0" anchor="t">
              <a:spAutoFit/>
            </a:bodyPr>
            <a:lstStyle/>
            <a:p>
              <a:pPr marL="0" lvl="0" indent="0" algn="l">
                <a:lnSpc>
                  <a:spcPts val="1370"/>
                </a:lnSpc>
              </a:pPr>
              <a:r>
                <a:rPr lang="en-US" sz="1384" spc="-41">
                  <a:solidFill>
                    <a:srgbClr val="3A58E4"/>
                  </a:solidFill>
                  <a:latin typeface="Bricolage Grotesque"/>
                  <a:ea typeface="Bricolage Grotesque"/>
                  <a:cs typeface="Bricolage Grotesque"/>
                  <a:sym typeface="Bricolage Grotesque"/>
                </a:rPr>
                <a:t>02</a:t>
              </a:r>
            </a:p>
          </p:txBody>
        </p:sp>
        <p:sp>
          <p:nvSpPr>
            <p:cNvPr id="29" name="TextBox 29"/>
            <p:cNvSpPr txBox="1"/>
            <p:nvPr/>
          </p:nvSpPr>
          <p:spPr>
            <a:xfrm>
              <a:off x="0" y="8300916"/>
              <a:ext cx="643052" cy="258778"/>
            </a:xfrm>
            <a:prstGeom prst="rect">
              <a:avLst/>
            </a:prstGeom>
          </p:spPr>
          <p:txBody>
            <a:bodyPr lIns="0" tIns="0" rIns="0" bIns="0" rtlCol="0" anchor="t">
              <a:spAutoFit/>
            </a:bodyPr>
            <a:lstStyle/>
            <a:p>
              <a:pPr marL="0" lvl="0" indent="0" algn="l">
                <a:lnSpc>
                  <a:spcPts val="1370"/>
                </a:lnSpc>
              </a:pPr>
              <a:r>
                <a:rPr lang="en-US" sz="1384" spc="-41">
                  <a:solidFill>
                    <a:srgbClr val="3A58E4"/>
                  </a:solidFill>
                  <a:latin typeface="Bricolage Grotesque"/>
                  <a:ea typeface="Bricolage Grotesque"/>
                  <a:cs typeface="Bricolage Grotesque"/>
                  <a:sym typeface="Bricolage Grotesque"/>
                </a:rPr>
                <a:t>03</a:t>
              </a:r>
            </a:p>
          </p:txBody>
        </p:sp>
      </p:grpSp>
      <p:grpSp>
        <p:nvGrpSpPr>
          <p:cNvPr id="30" name="Group 30"/>
          <p:cNvGrpSpPr/>
          <p:nvPr/>
        </p:nvGrpSpPr>
        <p:grpSpPr>
          <a:xfrm>
            <a:off x="1028700" y="1196251"/>
            <a:ext cx="24226" cy="1038034"/>
            <a:chOff x="0" y="0"/>
            <a:chExt cx="12543" cy="537460"/>
          </a:xfrm>
        </p:grpSpPr>
        <p:sp>
          <p:nvSpPr>
            <p:cNvPr id="31" name="Freeform 31"/>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FFFFFF"/>
            </a:solidFill>
          </p:spPr>
        </p:sp>
        <p:sp>
          <p:nvSpPr>
            <p:cNvPr id="32" name="TextBox 32"/>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3" name="TextBox 33"/>
          <p:cNvSpPr txBox="1"/>
          <p:nvPr/>
        </p:nvSpPr>
        <p:spPr>
          <a:xfrm>
            <a:off x="1144711" y="1452621"/>
            <a:ext cx="2753109" cy="949215"/>
          </a:xfrm>
          <a:prstGeom prst="rect">
            <a:avLst/>
          </a:prstGeom>
        </p:spPr>
        <p:txBody>
          <a:bodyPr lIns="0" tIns="0" rIns="0" bIns="0" rtlCol="0" anchor="t">
            <a:spAutoFit/>
          </a:bodyPr>
          <a:lstStyle/>
          <a:p>
            <a:pPr marL="0" lvl="0" indent="0" algn="l">
              <a:lnSpc>
                <a:spcPts val="3628"/>
              </a:lnSpc>
            </a:pPr>
            <a:r>
              <a:rPr lang="en-US" sz="3702" spc="-236">
                <a:solidFill>
                  <a:srgbClr val="FFFFFF"/>
                </a:solidFill>
                <a:latin typeface="Bricolage Grotesque"/>
                <a:ea typeface="Bricolage Grotesque"/>
                <a:cs typeface="Bricolage Grotesque"/>
                <a:sym typeface="Bricolage Grotesque"/>
              </a:rPr>
              <a:t>Traffic Density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525863"/>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028700" y="4191922"/>
            <a:ext cx="7514069" cy="854234"/>
          </a:xfrm>
          <a:prstGeom prst="rect">
            <a:avLst/>
          </a:prstGeom>
        </p:spPr>
        <p:txBody>
          <a:bodyPr lIns="0" tIns="0" rIns="0" bIns="0" rtlCol="0" anchor="t">
            <a:spAutoFit/>
          </a:bodyPr>
          <a:lstStyle/>
          <a:p>
            <a:pPr marL="0" lvl="0" indent="0" algn="just">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CLASSIFICATION OF DELIVERIES BY DELIVERY SPEED AND PERFORMANCE</a:t>
            </a:r>
          </a:p>
        </p:txBody>
      </p:sp>
      <p:sp>
        <p:nvSpPr>
          <p:cNvPr id="6" name="Freeform 6"/>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6692815" y="129"/>
            <a:ext cx="1849954" cy="1848037"/>
            <a:chOff x="0" y="0"/>
            <a:chExt cx="2466605" cy="2464050"/>
          </a:xfrm>
        </p:grpSpPr>
        <p:grpSp>
          <p:nvGrpSpPr>
            <p:cNvPr id="8" name="Group 8"/>
            <p:cNvGrpSpPr/>
            <p:nvPr/>
          </p:nvGrpSpPr>
          <p:grpSpPr>
            <a:xfrm>
              <a:off x="0" y="0"/>
              <a:ext cx="2466605" cy="2464050"/>
              <a:chOff x="0" y="0"/>
              <a:chExt cx="787566" cy="786750"/>
            </a:xfrm>
          </p:grpSpPr>
          <p:sp>
            <p:nvSpPr>
              <p:cNvPr id="9" name="Freeform 9"/>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0" name="TextBox 10"/>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07</a:t>
              </a:r>
            </a:p>
          </p:txBody>
        </p:sp>
      </p:grpSp>
      <p:grpSp>
        <p:nvGrpSpPr>
          <p:cNvPr id="12" name="Group 12"/>
          <p:cNvGrpSpPr/>
          <p:nvPr/>
        </p:nvGrpSpPr>
        <p:grpSpPr>
          <a:xfrm>
            <a:off x="10630940" y="0"/>
            <a:ext cx="7451928" cy="10287000"/>
            <a:chOff x="0" y="0"/>
            <a:chExt cx="9935904" cy="13716000"/>
          </a:xfrm>
        </p:grpSpPr>
        <p:pic>
          <p:nvPicPr>
            <p:cNvPr id="13" name="Picture 13"/>
            <p:cNvPicPr>
              <a:picLocks noChangeAspect="1"/>
            </p:cNvPicPr>
            <p:nvPr/>
          </p:nvPicPr>
          <p:blipFill>
            <a:blip r:embed="rId3"/>
            <a:stretch>
              <a:fillRect/>
            </a:stretch>
          </p:blipFill>
          <p:spPr>
            <a:xfrm>
              <a:off x="154914" y="167486"/>
              <a:ext cx="9626075" cy="13381027"/>
            </a:xfrm>
            <a:prstGeom prst="rect">
              <a:avLst/>
            </a:prstGeom>
          </p:spPr>
        </p:pic>
        <p:sp>
          <p:nvSpPr>
            <p:cNvPr id="14" name="AutoShape 14"/>
            <p:cNvSpPr/>
            <p:nvPr/>
          </p:nvSpPr>
          <p:spPr>
            <a:xfrm>
              <a:off x="9923204" y="0"/>
              <a:ext cx="0" cy="13716000"/>
            </a:xfrm>
            <a:prstGeom prst="line">
              <a:avLst/>
            </a:prstGeom>
            <a:ln w="25400" cap="rnd">
              <a:solidFill>
                <a:srgbClr val="3A58E4"/>
              </a:solidFill>
              <a:prstDash val="solid"/>
              <a:headEnd type="none" w="sm" len="sm"/>
              <a:tailEnd type="none" w="sm" len="sm"/>
            </a:ln>
          </p:spPr>
        </p:sp>
      </p:grpSp>
      <p:sp>
        <p:nvSpPr>
          <p:cNvPr id="15" name="TextBox 15"/>
          <p:cNvSpPr txBox="1"/>
          <p:nvPr/>
        </p:nvSpPr>
        <p:spPr>
          <a:xfrm>
            <a:off x="1256766" y="1374569"/>
            <a:ext cx="5780387" cy="2521349"/>
          </a:xfrm>
          <a:prstGeom prst="rect">
            <a:avLst/>
          </a:prstGeom>
        </p:spPr>
        <p:txBody>
          <a:bodyPr lIns="0" tIns="0" rIns="0" bIns="0" rtlCol="0" anchor="t">
            <a:spAutoFit/>
          </a:bodyPr>
          <a:lstStyle/>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Delivery Category Analysis</a:t>
            </a:r>
          </a:p>
        </p:txBody>
      </p:sp>
      <p:sp>
        <p:nvSpPr>
          <p:cNvPr id="16" name="TextBox 16"/>
          <p:cNvSpPr txBox="1"/>
          <p:nvPr/>
        </p:nvSpPr>
        <p:spPr>
          <a:xfrm>
            <a:off x="1028700" y="5350916"/>
            <a:ext cx="7514069" cy="3525055"/>
          </a:xfrm>
          <a:prstGeom prst="rect">
            <a:avLst/>
          </a:prstGeom>
        </p:spPr>
        <p:txBody>
          <a:bodyPr lIns="0" tIns="0" rIns="0" bIns="0" rtlCol="0" anchor="t">
            <a:spAutoFit/>
          </a:bodyPr>
          <a:lstStyle/>
          <a:p>
            <a:pPr marL="0" lvl="0" indent="0" algn="just">
              <a:lnSpc>
                <a:spcPts val="3105"/>
              </a:lnSpc>
            </a:pPr>
            <a:r>
              <a:rPr lang="en-US" sz="2218" spc="-6">
                <a:solidFill>
                  <a:srgbClr val="3A58E4"/>
                </a:solidFill>
                <a:latin typeface="Poppins"/>
                <a:ea typeface="Poppins"/>
                <a:cs typeface="Poppins"/>
                <a:sym typeface="Poppins"/>
              </a:rPr>
              <a:t>Deliveries are segmented into three categories based on speed. The majority — 23,438 orders — fall under the Average category, indicating most deliveries are completed within expected timeframes. Fast deliveries account for 14,149 orders, reflecting strong operational efficiency. Slow deliveries represent 8,006 orders, highlighting an area for targeted improvement through route optimization and resource allocation.</a:t>
            </a:r>
          </a:p>
        </p:txBody>
      </p:sp>
      <p:sp>
        <p:nvSpPr>
          <p:cNvPr id="17" name="Freeform 17"/>
          <p:cNvSpPr/>
          <p:nvPr/>
        </p:nvSpPr>
        <p:spPr>
          <a:xfrm>
            <a:off x="9455662" y="7848788"/>
            <a:ext cx="2479908" cy="482455"/>
          </a:xfrm>
          <a:custGeom>
            <a:avLst/>
            <a:gdLst/>
            <a:ahLst/>
            <a:cxnLst/>
            <a:rect l="l" t="t" r="r" b="b"/>
            <a:pathLst>
              <a:path w="2479908" h="482455">
                <a:moveTo>
                  <a:pt x="0" y="0"/>
                </a:moveTo>
                <a:lnTo>
                  <a:pt x="2479908" y="0"/>
                </a:lnTo>
                <a:lnTo>
                  <a:pt x="2479908" y="482455"/>
                </a:lnTo>
                <a:lnTo>
                  <a:pt x="0" y="482455"/>
                </a:lnTo>
                <a:lnTo>
                  <a:pt x="0" y="0"/>
                </a:lnTo>
                <a:close/>
              </a:path>
            </a:pathLst>
          </a:custGeom>
          <a:blipFill>
            <a:blip r:embed="rId4"/>
            <a:stretch>
              <a:fillRect/>
            </a:stretch>
          </a:blipFill>
        </p:spPr>
      </p:sp>
      <p:grpSp>
        <p:nvGrpSpPr>
          <p:cNvPr id="18" name="Group 18"/>
          <p:cNvGrpSpPr/>
          <p:nvPr/>
        </p:nvGrpSpPr>
        <p:grpSpPr>
          <a:xfrm>
            <a:off x="9545918" y="5831999"/>
            <a:ext cx="2270445" cy="2267600"/>
            <a:chOff x="0" y="0"/>
            <a:chExt cx="567580" cy="566868"/>
          </a:xfrm>
        </p:grpSpPr>
        <p:sp>
          <p:nvSpPr>
            <p:cNvPr id="19" name="Freeform 19"/>
            <p:cNvSpPr/>
            <p:nvPr/>
          </p:nvSpPr>
          <p:spPr>
            <a:xfrm>
              <a:off x="0" y="0"/>
              <a:ext cx="567580" cy="566868"/>
            </a:xfrm>
            <a:custGeom>
              <a:avLst/>
              <a:gdLst/>
              <a:ahLst/>
              <a:cxnLst/>
              <a:rect l="l" t="t" r="r" b="b"/>
              <a:pathLst>
                <a:path w="567580" h="566868">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20" name="TextBox 20"/>
            <p:cNvSpPr txBox="1"/>
            <p:nvPr/>
          </p:nvSpPr>
          <p:spPr>
            <a:xfrm>
              <a:off x="0" y="28575"/>
              <a:ext cx="567580" cy="538293"/>
            </a:xfrm>
            <a:prstGeom prst="rect">
              <a:avLst/>
            </a:prstGeom>
          </p:spPr>
          <p:txBody>
            <a:bodyPr lIns="51111" tIns="51111" rIns="51111" bIns="51111" rtlCol="0" anchor="ctr"/>
            <a:lstStyle/>
            <a:p>
              <a:pPr marL="0" lvl="0" indent="0" algn="ctr">
                <a:lnSpc>
                  <a:spcPts val="2460"/>
                </a:lnSpc>
              </a:pPr>
              <a:endParaRPr/>
            </a:p>
          </p:txBody>
        </p:sp>
      </p:grpSp>
      <p:sp>
        <p:nvSpPr>
          <p:cNvPr id="21" name="TextBox 21"/>
          <p:cNvSpPr txBox="1"/>
          <p:nvPr/>
        </p:nvSpPr>
        <p:spPr>
          <a:xfrm>
            <a:off x="9904370" y="6340300"/>
            <a:ext cx="1582493" cy="516979"/>
          </a:xfrm>
          <a:prstGeom prst="rect">
            <a:avLst/>
          </a:prstGeom>
        </p:spPr>
        <p:txBody>
          <a:bodyPr lIns="0" tIns="0" rIns="0" bIns="0" rtlCol="0" anchor="t">
            <a:spAutoFit/>
          </a:bodyPr>
          <a:lstStyle/>
          <a:p>
            <a:pPr marL="0" lvl="0" indent="0" algn="ctr">
              <a:lnSpc>
                <a:spcPts val="3876"/>
              </a:lnSpc>
            </a:pPr>
            <a:r>
              <a:rPr lang="en-US" sz="3915" b="1" spc="-117">
                <a:solidFill>
                  <a:srgbClr val="FFFFFF"/>
                </a:solidFill>
                <a:latin typeface="Bricolage Grotesque Bold"/>
                <a:ea typeface="Bricolage Grotesque Bold"/>
                <a:cs typeface="Bricolage Grotesque Bold"/>
                <a:sym typeface="Bricolage Grotesque Bold"/>
              </a:rPr>
              <a:t>45.6K</a:t>
            </a:r>
          </a:p>
        </p:txBody>
      </p:sp>
      <p:sp>
        <p:nvSpPr>
          <p:cNvPr id="22" name="TextBox 22"/>
          <p:cNvSpPr txBox="1"/>
          <p:nvPr/>
        </p:nvSpPr>
        <p:spPr>
          <a:xfrm>
            <a:off x="10056286" y="6838118"/>
            <a:ext cx="1278661" cy="821439"/>
          </a:xfrm>
          <a:prstGeom prst="rect">
            <a:avLst/>
          </a:prstGeom>
        </p:spPr>
        <p:txBody>
          <a:bodyPr lIns="0" tIns="0" rIns="0" bIns="0" rtlCol="0" anchor="t">
            <a:spAutoFit/>
          </a:bodyPr>
          <a:lstStyle/>
          <a:p>
            <a:pPr marL="0" lvl="0" indent="0" algn="ctr">
              <a:lnSpc>
                <a:spcPts val="2214"/>
              </a:lnSpc>
            </a:pPr>
            <a:r>
              <a:rPr lang="en-US" sz="1581" spc="-39">
                <a:solidFill>
                  <a:srgbClr val="FFFFFF"/>
                </a:solidFill>
                <a:latin typeface="Poppins"/>
                <a:ea typeface="Poppins"/>
                <a:cs typeface="Poppins"/>
                <a:sym typeface="Poppins"/>
              </a:rPr>
              <a:t>TOTAL ORDERS ANALYZED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28142" y="1358088"/>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7828142" y="4449725"/>
            <a:ext cx="9021242" cy="379246"/>
            <a:chOff x="0" y="0"/>
            <a:chExt cx="12028323" cy="505662"/>
          </a:xfrm>
        </p:grpSpPr>
        <p:sp>
          <p:nvSpPr>
            <p:cNvPr id="6" name="TextBox 6"/>
            <p:cNvSpPr txBox="1"/>
            <p:nvPr/>
          </p:nvSpPr>
          <p:spPr>
            <a:xfrm>
              <a:off x="0" y="-49117"/>
              <a:ext cx="11773903" cy="554779"/>
            </a:xfrm>
            <a:prstGeom prst="rect">
              <a:avLst/>
            </a:prstGeom>
          </p:spPr>
          <p:txBody>
            <a:bodyPr lIns="0" tIns="0" rIns="0" bIns="0" rtlCol="0" anchor="t">
              <a:spAutoFit/>
            </a:bodyPr>
            <a:lstStyle/>
            <a:p>
              <a:pPr marL="0" lvl="0" indent="0" algn="l">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OVERVIEW OF ORDER VOLUME BY CITY TYPE AND CATEGORY</a:t>
              </a:r>
            </a:p>
          </p:txBody>
        </p:sp>
        <p:sp>
          <p:nvSpPr>
            <p:cNvPr id="7" name="Freeform 7"/>
            <p:cNvSpPr/>
            <p:nvPr/>
          </p:nvSpPr>
          <p:spPr>
            <a:xfrm rot="-8687136">
              <a:off x="11711303"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8" name="Group 8"/>
          <p:cNvGrpSpPr/>
          <p:nvPr/>
        </p:nvGrpSpPr>
        <p:grpSpPr>
          <a:xfrm>
            <a:off x="16438046" y="129"/>
            <a:ext cx="1849954" cy="1848037"/>
            <a:chOff x="0" y="0"/>
            <a:chExt cx="2466605" cy="2464050"/>
          </a:xfrm>
        </p:grpSpPr>
        <p:grpSp>
          <p:nvGrpSpPr>
            <p:cNvPr id="9" name="Group 9"/>
            <p:cNvGrpSpPr/>
            <p:nvPr/>
          </p:nvGrpSpPr>
          <p:grpSpPr>
            <a:xfrm>
              <a:off x="0" y="0"/>
              <a:ext cx="2466605" cy="2464050"/>
              <a:chOff x="0" y="0"/>
              <a:chExt cx="787566" cy="786750"/>
            </a:xfrm>
          </p:grpSpPr>
          <p:sp>
            <p:nvSpPr>
              <p:cNvPr id="10" name="Freeform 10"/>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1" name="TextBox 11"/>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08</a:t>
              </a:r>
            </a:p>
          </p:txBody>
        </p:sp>
      </p:grpSp>
      <p:sp>
        <p:nvSpPr>
          <p:cNvPr id="13" name="AutoShape 13"/>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4" name="AutoShape 14"/>
          <p:cNvSpPr/>
          <p:nvPr/>
        </p:nvSpPr>
        <p:spPr>
          <a:xfrm>
            <a:off x="0" y="5320770"/>
            <a:ext cx="6542795" cy="0"/>
          </a:xfrm>
          <a:prstGeom prst="line">
            <a:avLst/>
          </a:prstGeom>
          <a:ln w="19050" cap="rnd">
            <a:solidFill>
              <a:srgbClr val="3A58E4"/>
            </a:solidFill>
            <a:prstDash val="solid"/>
            <a:headEnd type="none" w="sm" len="sm"/>
            <a:tailEnd type="none" w="sm" len="sm"/>
          </a:ln>
        </p:spPr>
      </p:sp>
      <p:pic>
        <p:nvPicPr>
          <p:cNvPr id="15" name="Picture 15"/>
          <p:cNvPicPr>
            <a:picLocks noChangeAspect="1"/>
          </p:cNvPicPr>
          <p:nvPr/>
        </p:nvPicPr>
        <p:blipFill>
          <a:blip r:embed="rId3"/>
          <a:stretch>
            <a:fillRect/>
          </a:stretch>
        </p:blipFill>
        <p:spPr>
          <a:xfrm>
            <a:off x="487111" y="424028"/>
            <a:ext cx="6341660" cy="5247943"/>
          </a:xfrm>
          <a:prstGeom prst="rect">
            <a:avLst/>
          </a:prstGeom>
        </p:spPr>
      </p:pic>
      <p:sp>
        <p:nvSpPr>
          <p:cNvPr id="16" name="TextBox 16"/>
          <p:cNvSpPr txBox="1"/>
          <p:nvPr/>
        </p:nvSpPr>
        <p:spPr>
          <a:xfrm>
            <a:off x="8056208" y="1206794"/>
            <a:ext cx="7107541" cy="2521349"/>
          </a:xfrm>
          <a:prstGeom prst="rect">
            <a:avLst/>
          </a:prstGeom>
        </p:spPr>
        <p:txBody>
          <a:bodyPr lIns="0" tIns="0" rIns="0" bIns="0" rtlCol="0" anchor="t">
            <a:spAutoFit/>
          </a:bodyPr>
          <a:lstStyle/>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City-wise</a:t>
            </a:r>
          </a:p>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Order</a:t>
            </a:r>
          </a:p>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Distribution</a:t>
            </a:r>
          </a:p>
        </p:txBody>
      </p:sp>
      <p:sp>
        <p:nvSpPr>
          <p:cNvPr id="18" name="TextBox 18"/>
          <p:cNvSpPr txBox="1"/>
          <p:nvPr/>
        </p:nvSpPr>
        <p:spPr>
          <a:xfrm>
            <a:off x="1736067" y="8321563"/>
            <a:ext cx="3088700" cy="744479"/>
          </a:xfrm>
          <a:prstGeom prst="rect">
            <a:avLst/>
          </a:prstGeom>
        </p:spPr>
        <p:txBody>
          <a:bodyPr lIns="0" tIns="0" rIns="0" bIns="0" rtlCol="0" anchor="t">
            <a:spAutoFit/>
          </a:bodyPr>
          <a:lstStyle/>
          <a:p>
            <a:pPr marL="0" lvl="0" indent="0" algn="ctr">
              <a:lnSpc>
                <a:spcPts val="2015"/>
              </a:lnSpc>
            </a:pPr>
            <a:r>
              <a:rPr lang="en-US" sz="1439" spc="-4">
                <a:solidFill>
                  <a:srgbClr val="3A58E4"/>
                </a:solidFill>
                <a:latin typeface="Poppins"/>
                <a:ea typeface="Poppins"/>
                <a:cs typeface="Poppins"/>
                <a:sym typeface="Poppins"/>
              </a:rPr>
              <a:t>Orders from</a:t>
            </a:r>
          </a:p>
          <a:p>
            <a:pPr marL="0" lvl="0" indent="0" algn="ctr">
              <a:lnSpc>
                <a:spcPts val="2015"/>
              </a:lnSpc>
            </a:pPr>
            <a:r>
              <a:rPr lang="en-US" sz="1439" spc="-4">
                <a:solidFill>
                  <a:srgbClr val="3A58E4"/>
                </a:solidFill>
                <a:latin typeface="Poppins"/>
                <a:ea typeface="Poppins"/>
                <a:cs typeface="Poppins"/>
                <a:sym typeface="Poppins"/>
              </a:rPr>
              <a:t>Metropolitan</a:t>
            </a:r>
          </a:p>
          <a:p>
            <a:pPr marL="0" lvl="0" indent="0" algn="ctr">
              <a:lnSpc>
                <a:spcPts val="2015"/>
              </a:lnSpc>
            </a:pPr>
            <a:r>
              <a:rPr lang="en-US" sz="1439" spc="-4">
                <a:solidFill>
                  <a:srgbClr val="3A58E4"/>
                </a:solidFill>
                <a:latin typeface="Poppins"/>
                <a:ea typeface="Poppins"/>
                <a:cs typeface="Poppins"/>
                <a:sym typeface="Poppins"/>
              </a:rPr>
              <a:t>cities</a:t>
            </a:r>
          </a:p>
        </p:txBody>
      </p:sp>
      <p:sp>
        <p:nvSpPr>
          <p:cNvPr id="19" name="TextBox 19"/>
          <p:cNvSpPr txBox="1"/>
          <p:nvPr/>
        </p:nvSpPr>
        <p:spPr>
          <a:xfrm>
            <a:off x="722135" y="5683902"/>
            <a:ext cx="5116565" cy="1758225"/>
          </a:xfrm>
          <a:prstGeom prst="rect">
            <a:avLst/>
          </a:prstGeom>
        </p:spPr>
        <p:txBody>
          <a:bodyPr lIns="0" tIns="0" rIns="0" bIns="0" rtlCol="0" anchor="t">
            <a:spAutoFit/>
          </a:bodyPr>
          <a:lstStyle/>
          <a:p>
            <a:pPr marL="0" lvl="0" indent="0" algn="ctr">
              <a:lnSpc>
                <a:spcPts val="14389"/>
              </a:lnSpc>
              <a:spcBef>
                <a:spcPct val="0"/>
              </a:spcBef>
            </a:pPr>
            <a:r>
              <a:rPr lang="en-US" sz="10278" spc="-657">
                <a:gradFill>
                  <a:gsLst>
                    <a:gs pos="0">
                      <a:srgbClr val="3A58E4">
                        <a:alpha val="100000"/>
                      </a:srgbClr>
                    </a:gs>
                    <a:gs pos="100000">
                      <a:srgbClr val="293E9C">
                        <a:alpha val="100000"/>
                      </a:srgbClr>
                    </a:gs>
                  </a:gsLst>
                  <a:path path="circle">
                    <a:fillToRect r="100000" b="100000"/>
                  </a:path>
                  <a:tileRect l="-100000" t="-100000"/>
                </a:gradFill>
                <a:latin typeface="Bricolage Grotesque"/>
                <a:ea typeface="Bricolage Grotesque"/>
                <a:cs typeface="Bricolage Grotesque"/>
                <a:sym typeface="Bricolage Grotesque"/>
              </a:rPr>
              <a:t>34K+</a:t>
            </a:r>
          </a:p>
        </p:txBody>
      </p:sp>
      <p:sp>
        <p:nvSpPr>
          <p:cNvPr id="21" name="TextBox 20">
            <a:extLst>
              <a:ext uri="{FF2B5EF4-FFF2-40B4-BE49-F238E27FC236}">
                <a16:creationId xmlns:a16="http://schemas.microsoft.com/office/drawing/2014/main" id="{DACE01EA-3E47-EC1C-8131-47A8E361FDCE}"/>
              </a:ext>
            </a:extLst>
          </p:cNvPr>
          <p:cNvSpPr txBox="1"/>
          <p:nvPr/>
        </p:nvSpPr>
        <p:spPr>
          <a:xfrm>
            <a:off x="7154156" y="5401573"/>
            <a:ext cx="9182100" cy="2664832"/>
          </a:xfrm>
          <a:prstGeom prst="rect">
            <a:avLst/>
          </a:prstGeom>
          <a:noFill/>
        </p:spPr>
        <p:txBody>
          <a:bodyPr wrap="square">
            <a:spAutoFit/>
          </a:bodyPr>
          <a:lstStyle/>
          <a:p>
            <a:pPr marL="0" lvl="0" indent="0" algn="just">
              <a:lnSpc>
                <a:spcPts val="2015"/>
              </a:lnSpc>
            </a:pPr>
            <a:r>
              <a:rPr lang="en-US" sz="2000" spc="-4" dirty="0">
                <a:solidFill>
                  <a:srgbClr val="3A58E4"/>
                </a:solidFill>
                <a:latin typeface="Poppins"/>
                <a:ea typeface="Poppins"/>
                <a:cs typeface="Poppins"/>
                <a:sym typeface="Poppins"/>
              </a:rPr>
              <a:t>Metropolitan cities account for the overwhelming majority of food delivery orders, with 34,093 orders — far exceeding Urban (10,136) and Semi-urban (1,364) areas. This distribution highlights that metropolitan regions are the primary customer base and the core driver of business volume. The stark contrast between city types underscores the need to prioritize resource allocation, delivery infrastructure, and marketing efforts in metropolitan zones. Expanding capacity and service quality in urban areas presents a significant growth opportunity, while semi-urban regions remain largely untapped markets with long-term potential for strategic expansion.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525863"/>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028700" y="4191922"/>
            <a:ext cx="7514069" cy="854234"/>
          </a:xfrm>
          <a:prstGeom prst="rect">
            <a:avLst/>
          </a:prstGeom>
        </p:spPr>
        <p:txBody>
          <a:bodyPr lIns="0" tIns="0" rIns="0" bIns="0" rtlCol="0" anchor="t">
            <a:spAutoFit/>
          </a:bodyPr>
          <a:lstStyle/>
          <a:p>
            <a:pPr marL="0" lvl="0" indent="0" algn="just">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DELIVERY VOLUME BREAKDOWN BY VEHICLE TYPE ACROSS ALL ORDERS</a:t>
            </a:r>
          </a:p>
        </p:txBody>
      </p:sp>
      <p:sp>
        <p:nvSpPr>
          <p:cNvPr id="6" name="Freeform 6"/>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6692815" y="129"/>
            <a:ext cx="1849954" cy="1848037"/>
            <a:chOff x="0" y="0"/>
            <a:chExt cx="2466605" cy="2464050"/>
          </a:xfrm>
        </p:grpSpPr>
        <p:grpSp>
          <p:nvGrpSpPr>
            <p:cNvPr id="8" name="Group 8"/>
            <p:cNvGrpSpPr/>
            <p:nvPr/>
          </p:nvGrpSpPr>
          <p:grpSpPr>
            <a:xfrm>
              <a:off x="0" y="0"/>
              <a:ext cx="2466605" cy="2464050"/>
              <a:chOff x="0" y="0"/>
              <a:chExt cx="787566" cy="786750"/>
            </a:xfrm>
          </p:grpSpPr>
          <p:sp>
            <p:nvSpPr>
              <p:cNvPr id="9" name="Freeform 9"/>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0" name="TextBox 10"/>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09</a:t>
              </a:r>
            </a:p>
          </p:txBody>
        </p:sp>
      </p:grpSp>
      <p:grpSp>
        <p:nvGrpSpPr>
          <p:cNvPr id="12" name="Group 12"/>
          <p:cNvGrpSpPr/>
          <p:nvPr/>
        </p:nvGrpSpPr>
        <p:grpSpPr>
          <a:xfrm>
            <a:off x="10630940" y="0"/>
            <a:ext cx="7451928" cy="10287000"/>
            <a:chOff x="0" y="0"/>
            <a:chExt cx="9935904" cy="13716000"/>
          </a:xfrm>
        </p:grpSpPr>
        <p:pic>
          <p:nvPicPr>
            <p:cNvPr id="13" name="Picture 13"/>
            <p:cNvPicPr>
              <a:picLocks noChangeAspect="1"/>
            </p:cNvPicPr>
            <p:nvPr/>
          </p:nvPicPr>
          <p:blipFill>
            <a:blip r:embed="rId3"/>
            <a:stretch>
              <a:fillRect/>
            </a:stretch>
          </p:blipFill>
          <p:spPr>
            <a:xfrm>
              <a:off x="190839" y="383032"/>
              <a:ext cx="9554227" cy="12949937"/>
            </a:xfrm>
            <a:prstGeom prst="rect">
              <a:avLst/>
            </a:prstGeom>
          </p:spPr>
        </p:pic>
        <p:sp>
          <p:nvSpPr>
            <p:cNvPr id="14" name="AutoShape 14"/>
            <p:cNvSpPr/>
            <p:nvPr/>
          </p:nvSpPr>
          <p:spPr>
            <a:xfrm>
              <a:off x="9923204" y="0"/>
              <a:ext cx="0" cy="13716000"/>
            </a:xfrm>
            <a:prstGeom prst="line">
              <a:avLst/>
            </a:prstGeom>
            <a:ln w="25400" cap="rnd">
              <a:solidFill>
                <a:srgbClr val="3A58E4"/>
              </a:solidFill>
              <a:prstDash val="solid"/>
              <a:headEnd type="none" w="sm" len="sm"/>
              <a:tailEnd type="none" w="sm" len="sm"/>
            </a:ln>
          </p:spPr>
        </p:sp>
      </p:grpSp>
      <p:sp>
        <p:nvSpPr>
          <p:cNvPr id="15" name="TextBox 15"/>
          <p:cNvSpPr txBox="1"/>
          <p:nvPr/>
        </p:nvSpPr>
        <p:spPr>
          <a:xfrm>
            <a:off x="1256766" y="1374569"/>
            <a:ext cx="5780387" cy="2521349"/>
          </a:xfrm>
          <a:prstGeom prst="rect">
            <a:avLst/>
          </a:prstGeom>
        </p:spPr>
        <p:txBody>
          <a:bodyPr lIns="0" tIns="0" rIns="0" bIns="0" rtlCol="0" anchor="t">
            <a:spAutoFit/>
          </a:bodyPr>
          <a:lstStyle/>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Vehicle-wise Order Distribution</a:t>
            </a:r>
          </a:p>
        </p:txBody>
      </p:sp>
      <p:sp>
        <p:nvSpPr>
          <p:cNvPr id="16" name="TextBox 16"/>
          <p:cNvSpPr txBox="1"/>
          <p:nvPr/>
        </p:nvSpPr>
        <p:spPr>
          <a:xfrm>
            <a:off x="1028700" y="5439083"/>
            <a:ext cx="7514069" cy="3436888"/>
          </a:xfrm>
          <a:prstGeom prst="rect">
            <a:avLst/>
          </a:prstGeom>
        </p:spPr>
        <p:txBody>
          <a:bodyPr lIns="0" tIns="0" rIns="0" bIns="0" rtlCol="0" anchor="t">
            <a:spAutoFit/>
          </a:bodyPr>
          <a:lstStyle/>
          <a:p>
            <a:pPr marL="0" lvl="0" indent="0" algn="just">
              <a:lnSpc>
                <a:spcPts val="2715"/>
              </a:lnSpc>
            </a:pPr>
            <a:r>
              <a:rPr lang="en-US" sz="1939" spc="-5">
                <a:solidFill>
                  <a:srgbClr val="3A58E4"/>
                </a:solidFill>
                <a:latin typeface="Poppins"/>
                <a:ea typeface="Poppins"/>
                <a:cs typeface="Poppins"/>
                <a:sym typeface="Poppins"/>
              </a:rPr>
              <a:t>Motorcycles lead all vehicle types with 26,435 deliveries, making them the most efficient and preferred mode for food delivery. Scooters follow with 15,276 deliveries, while Electric Scooters account for 3,814 orders, reflecting a growing shift toward sustainable transport. Bicycles contribute minimally with only 68 deliveries. Motorcycles dominate due to their speed, maneuverability, and fuel efficiency across urban and metropolitan routes. Investing in motorcycle fleet expansion and transitioning toward electric scooters can improve both delivery performance and environmental sustainability.</a:t>
            </a:r>
          </a:p>
        </p:txBody>
      </p:sp>
      <p:sp>
        <p:nvSpPr>
          <p:cNvPr id="17" name="Freeform 17"/>
          <p:cNvSpPr/>
          <p:nvPr/>
        </p:nvSpPr>
        <p:spPr>
          <a:xfrm>
            <a:off x="9455662" y="7848788"/>
            <a:ext cx="2479908" cy="482455"/>
          </a:xfrm>
          <a:custGeom>
            <a:avLst/>
            <a:gdLst/>
            <a:ahLst/>
            <a:cxnLst/>
            <a:rect l="l" t="t" r="r" b="b"/>
            <a:pathLst>
              <a:path w="2479908" h="482455">
                <a:moveTo>
                  <a:pt x="0" y="0"/>
                </a:moveTo>
                <a:lnTo>
                  <a:pt x="2479908" y="0"/>
                </a:lnTo>
                <a:lnTo>
                  <a:pt x="2479908" y="482455"/>
                </a:lnTo>
                <a:lnTo>
                  <a:pt x="0" y="482455"/>
                </a:lnTo>
                <a:lnTo>
                  <a:pt x="0" y="0"/>
                </a:lnTo>
                <a:close/>
              </a:path>
            </a:pathLst>
          </a:custGeom>
          <a:blipFill>
            <a:blip r:embed="rId4"/>
            <a:stretch>
              <a:fillRect/>
            </a:stretch>
          </a:blipFill>
        </p:spPr>
      </p:sp>
      <p:grpSp>
        <p:nvGrpSpPr>
          <p:cNvPr id="18" name="Group 18"/>
          <p:cNvGrpSpPr/>
          <p:nvPr/>
        </p:nvGrpSpPr>
        <p:grpSpPr>
          <a:xfrm>
            <a:off x="9545918" y="5831999"/>
            <a:ext cx="2270445" cy="2267600"/>
            <a:chOff x="0" y="0"/>
            <a:chExt cx="567580" cy="566868"/>
          </a:xfrm>
        </p:grpSpPr>
        <p:sp>
          <p:nvSpPr>
            <p:cNvPr id="19" name="Freeform 19"/>
            <p:cNvSpPr/>
            <p:nvPr/>
          </p:nvSpPr>
          <p:spPr>
            <a:xfrm>
              <a:off x="0" y="0"/>
              <a:ext cx="567580" cy="566868"/>
            </a:xfrm>
            <a:custGeom>
              <a:avLst/>
              <a:gdLst/>
              <a:ahLst/>
              <a:cxnLst/>
              <a:rect l="l" t="t" r="r" b="b"/>
              <a:pathLst>
                <a:path w="567580" h="566868">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20" name="TextBox 20"/>
            <p:cNvSpPr txBox="1"/>
            <p:nvPr/>
          </p:nvSpPr>
          <p:spPr>
            <a:xfrm>
              <a:off x="0" y="28575"/>
              <a:ext cx="567580" cy="538293"/>
            </a:xfrm>
            <a:prstGeom prst="rect">
              <a:avLst/>
            </a:prstGeom>
          </p:spPr>
          <p:txBody>
            <a:bodyPr lIns="51111" tIns="51111" rIns="51111" bIns="51111" rtlCol="0" anchor="ctr"/>
            <a:lstStyle/>
            <a:p>
              <a:pPr marL="0" lvl="0" indent="0" algn="ctr">
                <a:lnSpc>
                  <a:spcPts val="2460"/>
                </a:lnSpc>
              </a:pPr>
              <a:endParaRPr/>
            </a:p>
          </p:txBody>
        </p:sp>
      </p:grpSp>
      <p:sp>
        <p:nvSpPr>
          <p:cNvPr id="21" name="TextBox 21"/>
          <p:cNvSpPr txBox="1"/>
          <p:nvPr/>
        </p:nvSpPr>
        <p:spPr>
          <a:xfrm>
            <a:off x="9904370" y="6340300"/>
            <a:ext cx="1582493" cy="516979"/>
          </a:xfrm>
          <a:prstGeom prst="rect">
            <a:avLst/>
          </a:prstGeom>
        </p:spPr>
        <p:txBody>
          <a:bodyPr lIns="0" tIns="0" rIns="0" bIns="0" rtlCol="0" anchor="t">
            <a:spAutoFit/>
          </a:bodyPr>
          <a:lstStyle/>
          <a:p>
            <a:pPr marL="0" lvl="0" indent="0" algn="ctr">
              <a:lnSpc>
                <a:spcPts val="3876"/>
              </a:lnSpc>
            </a:pPr>
            <a:r>
              <a:rPr lang="en-US" sz="3915" b="1" spc="-117">
                <a:solidFill>
                  <a:srgbClr val="FFFFFF"/>
                </a:solidFill>
                <a:latin typeface="Bricolage Grotesque Bold"/>
                <a:ea typeface="Bricolage Grotesque Bold"/>
                <a:cs typeface="Bricolage Grotesque Bold"/>
                <a:sym typeface="Bricolage Grotesque Bold"/>
              </a:rPr>
              <a:t>26K</a:t>
            </a:r>
          </a:p>
        </p:txBody>
      </p:sp>
      <p:sp>
        <p:nvSpPr>
          <p:cNvPr id="22" name="TextBox 22"/>
          <p:cNvSpPr txBox="1"/>
          <p:nvPr/>
        </p:nvSpPr>
        <p:spPr>
          <a:xfrm>
            <a:off x="10056286" y="6923511"/>
            <a:ext cx="1278661" cy="736046"/>
          </a:xfrm>
          <a:prstGeom prst="rect">
            <a:avLst/>
          </a:prstGeom>
        </p:spPr>
        <p:txBody>
          <a:bodyPr lIns="0" tIns="0" rIns="0" bIns="0" rtlCol="0" anchor="t">
            <a:spAutoFit/>
          </a:bodyPr>
          <a:lstStyle/>
          <a:p>
            <a:pPr marL="0" lvl="0" indent="0" algn="ctr">
              <a:lnSpc>
                <a:spcPts val="1935"/>
              </a:lnSpc>
            </a:pPr>
            <a:r>
              <a:rPr lang="en-US" sz="1382" spc="-34">
                <a:solidFill>
                  <a:srgbClr val="FFFFFF"/>
                </a:solidFill>
                <a:latin typeface="Poppins"/>
                <a:ea typeface="Poppins"/>
                <a:cs typeface="Poppins"/>
                <a:sym typeface="Poppins"/>
              </a:rPr>
              <a:t>MOTORCYCLE DELIVERIES RECORDED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6766" y="1206794"/>
            <a:ext cx="5217559" cy="2521349"/>
          </a:xfrm>
          <a:prstGeom prst="rect">
            <a:avLst/>
          </a:prstGeom>
        </p:spPr>
        <p:txBody>
          <a:bodyPr lIns="0" tIns="0" rIns="0" bIns="0" rtlCol="0" anchor="t">
            <a:spAutoFit/>
          </a:bodyPr>
          <a:lstStyle/>
          <a:p>
            <a:pPr marL="0" lvl="0" indent="0" algn="l">
              <a:lnSpc>
                <a:spcPts val="6580"/>
              </a:lnSpc>
            </a:pPr>
            <a:r>
              <a:rPr lang="en-US" sz="6714" spc="-429">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Overall Business Insights</a:t>
            </a:r>
          </a:p>
        </p:txBody>
      </p:sp>
      <p:grpSp>
        <p:nvGrpSpPr>
          <p:cNvPr id="3" name="Group 3"/>
          <p:cNvGrpSpPr/>
          <p:nvPr/>
        </p:nvGrpSpPr>
        <p:grpSpPr>
          <a:xfrm>
            <a:off x="1028700" y="1358088"/>
            <a:ext cx="47625" cy="2040668"/>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028700" y="4312874"/>
            <a:ext cx="8172450" cy="379246"/>
            <a:chOff x="0" y="0"/>
            <a:chExt cx="10896600" cy="505662"/>
          </a:xfrm>
        </p:grpSpPr>
        <p:sp>
          <p:nvSpPr>
            <p:cNvPr id="7" name="TextBox 7"/>
            <p:cNvSpPr txBox="1"/>
            <p:nvPr/>
          </p:nvSpPr>
          <p:spPr>
            <a:xfrm>
              <a:off x="0" y="-49117"/>
              <a:ext cx="10820400" cy="554779"/>
            </a:xfrm>
            <a:prstGeom prst="rect">
              <a:avLst/>
            </a:prstGeom>
          </p:spPr>
          <p:txBody>
            <a:bodyPr lIns="0" tIns="0" rIns="0" bIns="0" rtlCol="0" anchor="t">
              <a:spAutoFit/>
            </a:bodyPr>
            <a:lstStyle/>
            <a:p>
              <a:pPr marL="0" lvl="0" indent="0" algn="l">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SUMMARY OF KEY FINDINGS FROM THE ANALYSIS</a:t>
              </a:r>
            </a:p>
          </p:txBody>
        </p:sp>
        <p:sp>
          <p:nvSpPr>
            <p:cNvPr id="8" name="Freeform 8"/>
            <p:cNvSpPr/>
            <p:nvPr/>
          </p:nvSpPr>
          <p:spPr>
            <a:xfrm rot="-8687136">
              <a:off x="10579580"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9" name="Group 9"/>
          <p:cNvGrpSpPr/>
          <p:nvPr/>
        </p:nvGrpSpPr>
        <p:grpSpPr>
          <a:xfrm>
            <a:off x="16438046" y="129"/>
            <a:ext cx="1849954" cy="1848037"/>
            <a:chOff x="0" y="0"/>
            <a:chExt cx="2466605" cy="2464050"/>
          </a:xfrm>
        </p:grpSpPr>
        <p:grpSp>
          <p:nvGrpSpPr>
            <p:cNvPr id="10" name="Group 10"/>
            <p:cNvGrpSpPr/>
            <p:nvPr/>
          </p:nvGrpSpPr>
          <p:grpSpPr>
            <a:xfrm>
              <a:off x="0" y="0"/>
              <a:ext cx="2466605" cy="2464050"/>
              <a:chOff x="0" y="0"/>
              <a:chExt cx="787566" cy="786750"/>
            </a:xfrm>
          </p:grpSpPr>
          <p:sp>
            <p:nvSpPr>
              <p:cNvPr id="11" name="Freeform 1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10</a:t>
              </a:r>
            </a:p>
          </p:txBody>
        </p:sp>
      </p:grpSp>
      <p:sp>
        <p:nvSpPr>
          <p:cNvPr id="14" name="Freeform 14"/>
          <p:cNvSpPr/>
          <p:nvPr/>
        </p:nvSpPr>
        <p:spPr>
          <a:xfrm>
            <a:off x="10157481" y="3294909"/>
            <a:ext cx="6051187" cy="4825821"/>
          </a:xfrm>
          <a:custGeom>
            <a:avLst/>
            <a:gdLst/>
            <a:ahLst/>
            <a:cxnLst/>
            <a:rect l="l" t="t" r="r" b="b"/>
            <a:pathLst>
              <a:path w="6051187" h="4825821">
                <a:moveTo>
                  <a:pt x="0" y="0"/>
                </a:moveTo>
                <a:lnTo>
                  <a:pt x="6051187" y="0"/>
                </a:lnTo>
                <a:lnTo>
                  <a:pt x="6051187" y="4825821"/>
                </a:lnTo>
                <a:lnTo>
                  <a:pt x="0" y="4825821"/>
                </a:lnTo>
                <a:lnTo>
                  <a:pt x="0" y="0"/>
                </a:lnTo>
                <a:close/>
              </a:path>
            </a:pathLst>
          </a:custGeom>
          <a:blipFill>
            <a:blip r:embed="rId3"/>
            <a:stretch>
              <a:fillRect/>
            </a:stretch>
          </a:blipFill>
        </p:spPr>
      </p:sp>
      <p:sp>
        <p:nvSpPr>
          <p:cNvPr id="15" name="TextBox 15"/>
          <p:cNvSpPr txBox="1"/>
          <p:nvPr/>
        </p:nvSpPr>
        <p:spPr>
          <a:xfrm>
            <a:off x="1870201" y="5342989"/>
            <a:ext cx="7273799" cy="673797"/>
          </a:xfrm>
          <a:prstGeom prst="rect">
            <a:avLst/>
          </a:prstGeom>
        </p:spPr>
        <p:txBody>
          <a:bodyPr lIns="0" tIns="0" rIns="0" bIns="0" rtlCol="0" anchor="t">
            <a:spAutoFit/>
          </a:bodyPr>
          <a:lstStyle/>
          <a:p>
            <a:pPr marL="0" lvl="0" indent="0" algn="just">
              <a:lnSpc>
                <a:spcPts val="2656"/>
              </a:lnSpc>
            </a:pPr>
            <a:r>
              <a:rPr lang="en-US" sz="1897" spc="-47">
                <a:solidFill>
                  <a:srgbClr val="3A58E4"/>
                </a:solidFill>
                <a:latin typeface="Poppins"/>
                <a:ea typeface="Poppins"/>
                <a:cs typeface="Poppins"/>
                <a:sym typeface="Poppins"/>
              </a:rPr>
              <a:t>Total orders analyzed: 45,593 | Avg customer rating: 4.634/5 | Avg delivery time: 26.29 minutes.</a:t>
            </a:r>
          </a:p>
        </p:txBody>
      </p:sp>
      <p:sp>
        <p:nvSpPr>
          <p:cNvPr id="16" name="TextBox 16"/>
          <p:cNvSpPr txBox="1"/>
          <p:nvPr/>
        </p:nvSpPr>
        <p:spPr>
          <a:xfrm>
            <a:off x="1870201" y="6334281"/>
            <a:ext cx="7273799" cy="673797"/>
          </a:xfrm>
          <a:prstGeom prst="rect">
            <a:avLst/>
          </a:prstGeom>
        </p:spPr>
        <p:txBody>
          <a:bodyPr lIns="0" tIns="0" rIns="0" bIns="0" rtlCol="0" anchor="t">
            <a:spAutoFit/>
          </a:bodyPr>
          <a:lstStyle/>
          <a:p>
            <a:pPr marL="0" lvl="0" indent="0" algn="just">
              <a:lnSpc>
                <a:spcPts val="2656"/>
              </a:lnSpc>
            </a:pPr>
            <a:r>
              <a:rPr lang="en-US" sz="1897" spc="-47">
                <a:solidFill>
                  <a:srgbClr val="3A58E4"/>
                </a:solidFill>
                <a:latin typeface="Poppins"/>
                <a:ea typeface="Poppins"/>
                <a:cs typeface="Poppins"/>
                <a:sym typeface="Poppins"/>
              </a:rPr>
              <a:t>Metropolitan cities generate the highest order volume (34,093); motorcycles are the most used delivery vehicle (26,435).</a:t>
            </a:r>
          </a:p>
        </p:txBody>
      </p:sp>
      <p:sp>
        <p:nvSpPr>
          <p:cNvPr id="17" name="TextBox 17"/>
          <p:cNvSpPr txBox="1"/>
          <p:nvPr/>
        </p:nvSpPr>
        <p:spPr>
          <a:xfrm>
            <a:off x="1870201" y="7325573"/>
            <a:ext cx="7273799" cy="673797"/>
          </a:xfrm>
          <a:prstGeom prst="rect">
            <a:avLst/>
          </a:prstGeom>
        </p:spPr>
        <p:txBody>
          <a:bodyPr lIns="0" tIns="0" rIns="0" bIns="0" rtlCol="0" anchor="t">
            <a:spAutoFit/>
          </a:bodyPr>
          <a:lstStyle/>
          <a:p>
            <a:pPr marL="0" lvl="0" indent="0" algn="just">
              <a:lnSpc>
                <a:spcPts val="2656"/>
              </a:lnSpc>
            </a:pPr>
            <a:r>
              <a:rPr lang="en-US" sz="1897" spc="-47">
                <a:solidFill>
                  <a:srgbClr val="3A58E4"/>
                </a:solidFill>
                <a:latin typeface="Poppins"/>
                <a:ea typeface="Poppins"/>
                <a:cs typeface="Poppins"/>
                <a:sym typeface="Poppins"/>
              </a:rPr>
              <a:t>Low traffic conditions yield the highest delivery volumes; most deliveries occur during non-festival periods.</a:t>
            </a:r>
          </a:p>
        </p:txBody>
      </p:sp>
      <p:sp>
        <p:nvSpPr>
          <p:cNvPr id="18" name="TextBox 18"/>
          <p:cNvSpPr txBox="1"/>
          <p:nvPr/>
        </p:nvSpPr>
        <p:spPr>
          <a:xfrm>
            <a:off x="1870201" y="8316864"/>
            <a:ext cx="7273799" cy="673797"/>
          </a:xfrm>
          <a:prstGeom prst="rect">
            <a:avLst/>
          </a:prstGeom>
        </p:spPr>
        <p:txBody>
          <a:bodyPr lIns="0" tIns="0" rIns="0" bIns="0" rtlCol="0" anchor="t">
            <a:spAutoFit/>
          </a:bodyPr>
          <a:lstStyle/>
          <a:p>
            <a:pPr marL="0" lvl="0" indent="0" algn="just">
              <a:lnSpc>
                <a:spcPts val="2656"/>
              </a:lnSpc>
            </a:pPr>
            <a:r>
              <a:rPr lang="en-US" sz="1897" spc="-47">
                <a:solidFill>
                  <a:srgbClr val="3A58E4"/>
                </a:solidFill>
                <a:latin typeface="Poppins"/>
                <a:ea typeface="Poppins"/>
                <a:cs typeface="Poppins"/>
                <a:sym typeface="Poppins"/>
              </a:rPr>
              <a:t>Majority of deliveries fall under the Average category (23,438), reflecting consistent and reliable delivery performance.</a:t>
            </a:r>
          </a:p>
        </p:txBody>
      </p:sp>
      <p:sp>
        <p:nvSpPr>
          <p:cNvPr id="19" name="Freeform 19"/>
          <p:cNvSpPr/>
          <p:nvPr/>
        </p:nvSpPr>
        <p:spPr>
          <a:xfrm>
            <a:off x="1052512" y="5400430"/>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0" name="Freeform 20"/>
          <p:cNvSpPr/>
          <p:nvPr/>
        </p:nvSpPr>
        <p:spPr>
          <a:xfrm>
            <a:off x="1052512" y="6391722"/>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1" name="Freeform 21"/>
          <p:cNvSpPr/>
          <p:nvPr/>
        </p:nvSpPr>
        <p:spPr>
          <a:xfrm>
            <a:off x="1052512" y="7383013"/>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2" name="Freeform 22"/>
          <p:cNvSpPr/>
          <p:nvPr/>
        </p:nvSpPr>
        <p:spPr>
          <a:xfrm>
            <a:off x="1052512" y="8376909"/>
            <a:ext cx="489071" cy="489071"/>
          </a:xfrm>
          <a:custGeom>
            <a:avLst/>
            <a:gdLst/>
            <a:ahLst/>
            <a:cxnLst/>
            <a:rect l="l" t="t" r="r" b="b"/>
            <a:pathLst>
              <a:path w="489071" h="489071">
                <a:moveTo>
                  <a:pt x="0" y="0"/>
                </a:moveTo>
                <a:lnTo>
                  <a:pt x="489072" y="0"/>
                </a:lnTo>
                <a:lnTo>
                  <a:pt x="489072" y="489072"/>
                </a:lnTo>
                <a:lnTo>
                  <a:pt x="0" y="489072"/>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741311" y="0"/>
            <a:ext cx="546689" cy="7173190"/>
            <a:chOff x="0" y="0"/>
            <a:chExt cx="143984" cy="1889235"/>
          </a:xfrm>
        </p:grpSpPr>
        <p:sp>
          <p:nvSpPr>
            <p:cNvPr id="3" name="Freeform 3"/>
            <p:cNvSpPr/>
            <p:nvPr/>
          </p:nvSpPr>
          <p:spPr>
            <a:xfrm>
              <a:off x="0" y="0"/>
              <a:ext cx="143984" cy="1889235"/>
            </a:xfrm>
            <a:custGeom>
              <a:avLst/>
              <a:gdLst/>
              <a:ahLst/>
              <a:cxnLst/>
              <a:rect l="l" t="t" r="r" b="b"/>
              <a:pathLst>
                <a:path w="143984" h="1889235">
                  <a:moveTo>
                    <a:pt x="0" y="0"/>
                  </a:moveTo>
                  <a:lnTo>
                    <a:pt x="143984" y="0"/>
                  </a:lnTo>
                  <a:lnTo>
                    <a:pt x="143984" y="1889235"/>
                  </a:lnTo>
                  <a:lnTo>
                    <a:pt x="0" y="1889235"/>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143984" cy="19273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AutoShape 5"/>
          <p:cNvSpPr/>
          <p:nvPr/>
        </p:nvSpPr>
        <p:spPr>
          <a:xfrm flipH="1">
            <a:off x="4442685" y="0"/>
            <a:ext cx="0" cy="10287000"/>
          </a:xfrm>
          <a:prstGeom prst="line">
            <a:avLst/>
          </a:prstGeom>
          <a:ln w="19050" cap="rnd">
            <a:solidFill>
              <a:srgbClr val="3A58E4"/>
            </a:solidFill>
            <a:prstDash val="solid"/>
            <a:headEnd type="none" w="sm" len="sm"/>
            <a:tailEnd type="none" w="sm" len="sm"/>
          </a:ln>
        </p:spPr>
      </p:sp>
      <p:sp>
        <p:nvSpPr>
          <p:cNvPr id="6" name="AutoShape 6"/>
          <p:cNvSpPr/>
          <p:nvPr/>
        </p:nvSpPr>
        <p:spPr>
          <a:xfrm>
            <a:off x="8872264" y="0"/>
            <a:ext cx="0" cy="7163665"/>
          </a:xfrm>
          <a:prstGeom prst="line">
            <a:avLst/>
          </a:prstGeom>
          <a:ln w="19050" cap="rnd">
            <a:solidFill>
              <a:srgbClr val="3A58E4"/>
            </a:solidFill>
            <a:prstDash val="solid"/>
            <a:headEnd type="none" w="sm" len="sm"/>
            <a:tailEnd type="none" w="sm" len="sm"/>
          </a:ln>
        </p:spPr>
      </p:sp>
      <p:sp>
        <p:nvSpPr>
          <p:cNvPr id="7" name="AutoShape 7"/>
          <p:cNvSpPr/>
          <p:nvPr/>
        </p:nvSpPr>
        <p:spPr>
          <a:xfrm>
            <a:off x="13301844" y="0"/>
            <a:ext cx="0" cy="7163665"/>
          </a:xfrm>
          <a:prstGeom prst="line">
            <a:avLst/>
          </a:prstGeom>
          <a:ln w="19050" cap="rnd">
            <a:solidFill>
              <a:srgbClr val="3A58E4"/>
            </a:solidFill>
            <a:prstDash val="solid"/>
            <a:headEnd type="none" w="sm" len="sm"/>
            <a:tailEnd type="none" w="sm" len="sm"/>
          </a:ln>
        </p:spPr>
      </p:sp>
      <p:sp>
        <p:nvSpPr>
          <p:cNvPr id="8" name="AutoShape 8"/>
          <p:cNvSpPr/>
          <p:nvPr/>
        </p:nvSpPr>
        <p:spPr>
          <a:xfrm>
            <a:off x="0" y="7173190"/>
            <a:ext cx="18288000" cy="0"/>
          </a:xfrm>
          <a:prstGeom prst="line">
            <a:avLst/>
          </a:prstGeom>
          <a:ln w="19050" cap="rnd">
            <a:solidFill>
              <a:srgbClr val="3A58E4"/>
            </a:solidFill>
            <a:prstDash val="solid"/>
            <a:headEnd type="none" w="sm" len="sm"/>
            <a:tailEnd type="none" w="sm" len="sm"/>
          </a:ln>
        </p:spPr>
      </p:sp>
      <p:grpSp>
        <p:nvGrpSpPr>
          <p:cNvPr id="9" name="Group 9"/>
          <p:cNvGrpSpPr/>
          <p:nvPr/>
        </p:nvGrpSpPr>
        <p:grpSpPr>
          <a:xfrm>
            <a:off x="16305" y="17636"/>
            <a:ext cx="1197405" cy="1188137"/>
            <a:chOff x="0" y="0"/>
            <a:chExt cx="1596540" cy="1584183"/>
          </a:xfrm>
        </p:grpSpPr>
        <p:grpSp>
          <p:nvGrpSpPr>
            <p:cNvPr id="10" name="Group 10"/>
            <p:cNvGrpSpPr/>
            <p:nvPr/>
          </p:nvGrpSpPr>
          <p:grpSpPr>
            <a:xfrm>
              <a:off x="0" y="0"/>
              <a:ext cx="1596540" cy="1584183"/>
              <a:chOff x="0" y="0"/>
              <a:chExt cx="787566" cy="781470"/>
            </a:xfrm>
          </p:grpSpPr>
          <p:sp>
            <p:nvSpPr>
              <p:cNvPr id="11" name="Freeform 11"/>
              <p:cNvSpPr/>
              <p:nvPr/>
            </p:nvSpPr>
            <p:spPr>
              <a:xfrm>
                <a:off x="0" y="0"/>
                <a:ext cx="787566" cy="781470"/>
              </a:xfrm>
              <a:custGeom>
                <a:avLst/>
                <a:gdLst/>
                <a:ahLst/>
                <a:cxnLst/>
                <a:rect l="l" t="t" r="r" b="b"/>
                <a:pathLst>
                  <a:path w="787566" h="781470">
                    <a:moveTo>
                      <a:pt x="0" y="0"/>
                    </a:moveTo>
                    <a:lnTo>
                      <a:pt x="787566" y="0"/>
                    </a:lnTo>
                    <a:lnTo>
                      <a:pt x="787566" y="781470"/>
                    </a:lnTo>
                    <a:lnTo>
                      <a:pt x="0" y="78147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2" name="TextBox 12"/>
              <p:cNvSpPr txBox="1"/>
              <p:nvPr/>
            </p:nvSpPr>
            <p:spPr>
              <a:xfrm>
                <a:off x="0" y="-38100"/>
                <a:ext cx="787566" cy="81957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206583" y="454809"/>
              <a:ext cx="1183375" cy="760289"/>
            </a:xfrm>
            <a:prstGeom prst="rect">
              <a:avLst/>
            </a:prstGeom>
          </p:spPr>
          <p:txBody>
            <a:bodyPr lIns="0" tIns="0" rIns="0" bIns="0" rtlCol="0" anchor="t">
              <a:spAutoFit/>
            </a:bodyPr>
            <a:lstStyle/>
            <a:p>
              <a:pPr marL="0" lvl="0" indent="0" algn="ctr">
                <a:lnSpc>
                  <a:spcPts val="4091"/>
                </a:lnSpc>
              </a:pPr>
              <a:r>
                <a:rPr lang="en-US" sz="4174" spc="-267">
                  <a:solidFill>
                    <a:srgbClr val="FFFFFF"/>
                  </a:solidFill>
                  <a:latin typeface="Bricolage Grotesque"/>
                  <a:ea typeface="Bricolage Grotesque"/>
                  <a:cs typeface="Bricolage Grotesque"/>
                  <a:sym typeface="Bricolage Grotesque"/>
                </a:rPr>
                <a:t>01</a:t>
              </a:r>
            </a:p>
          </p:txBody>
        </p:sp>
      </p:grpSp>
      <p:grpSp>
        <p:nvGrpSpPr>
          <p:cNvPr id="14" name="Group 14"/>
          <p:cNvGrpSpPr/>
          <p:nvPr/>
        </p:nvGrpSpPr>
        <p:grpSpPr>
          <a:xfrm>
            <a:off x="4442685" y="17636"/>
            <a:ext cx="1197405" cy="1188137"/>
            <a:chOff x="0" y="0"/>
            <a:chExt cx="1596540" cy="1584183"/>
          </a:xfrm>
        </p:grpSpPr>
        <p:grpSp>
          <p:nvGrpSpPr>
            <p:cNvPr id="15" name="Group 15"/>
            <p:cNvGrpSpPr/>
            <p:nvPr/>
          </p:nvGrpSpPr>
          <p:grpSpPr>
            <a:xfrm>
              <a:off x="0" y="0"/>
              <a:ext cx="1596540" cy="1584183"/>
              <a:chOff x="0" y="0"/>
              <a:chExt cx="787566" cy="781470"/>
            </a:xfrm>
          </p:grpSpPr>
          <p:sp>
            <p:nvSpPr>
              <p:cNvPr id="16" name="Freeform 16"/>
              <p:cNvSpPr/>
              <p:nvPr/>
            </p:nvSpPr>
            <p:spPr>
              <a:xfrm>
                <a:off x="0" y="0"/>
                <a:ext cx="787566" cy="781470"/>
              </a:xfrm>
              <a:custGeom>
                <a:avLst/>
                <a:gdLst/>
                <a:ahLst/>
                <a:cxnLst/>
                <a:rect l="l" t="t" r="r" b="b"/>
                <a:pathLst>
                  <a:path w="787566" h="781470">
                    <a:moveTo>
                      <a:pt x="0" y="0"/>
                    </a:moveTo>
                    <a:lnTo>
                      <a:pt x="787566" y="0"/>
                    </a:lnTo>
                    <a:lnTo>
                      <a:pt x="787566" y="781470"/>
                    </a:lnTo>
                    <a:lnTo>
                      <a:pt x="0" y="78147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7" name="TextBox 17"/>
              <p:cNvSpPr txBox="1"/>
              <p:nvPr/>
            </p:nvSpPr>
            <p:spPr>
              <a:xfrm>
                <a:off x="0" y="-38100"/>
                <a:ext cx="787566" cy="81957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206583" y="454809"/>
              <a:ext cx="1183375" cy="760289"/>
            </a:xfrm>
            <a:prstGeom prst="rect">
              <a:avLst/>
            </a:prstGeom>
          </p:spPr>
          <p:txBody>
            <a:bodyPr lIns="0" tIns="0" rIns="0" bIns="0" rtlCol="0" anchor="t">
              <a:spAutoFit/>
            </a:bodyPr>
            <a:lstStyle/>
            <a:p>
              <a:pPr marL="0" lvl="0" indent="0" algn="ctr">
                <a:lnSpc>
                  <a:spcPts val="4091"/>
                </a:lnSpc>
              </a:pPr>
              <a:r>
                <a:rPr lang="en-US" sz="4174" spc="-267">
                  <a:solidFill>
                    <a:srgbClr val="FFFFFF"/>
                  </a:solidFill>
                  <a:latin typeface="Bricolage Grotesque"/>
                  <a:ea typeface="Bricolage Grotesque"/>
                  <a:cs typeface="Bricolage Grotesque"/>
                  <a:sym typeface="Bricolage Grotesque"/>
                </a:rPr>
                <a:t>02</a:t>
              </a:r>
            </a:p>
          </p:txBody>
        </p:sp>
      </p:grpSp>
      <p:grpSp>
        <p:nvGrpSpPr>
          <p:cNvPr id="19" name="Group 19"/>
          <p:cNvGrpSpPr/>
          <p:nvPr/>
        </p:nvGrpSpPr>
        <p:grpSpPr>
          <a:xfrm>
            <a:off x="8875845" y="17636"/>
            <a:ext cx="1197405" cy="1188137"/>
            <a:chOff x="0" y="0"/>
            <a:chExt cx="1596540" cy="1584183"/>
          </a:xfrm>
        </p:grpSpPr>
        <p:grpSp>
          <p:nvGrpSpPr>
            <p:cNvPr id="20" name="Group 20"/>
            <p:cNvGrpSpPr/>
            <p:nvPr/>
          </p:nvGrpSpPr>
          <p:grpSpPr>
            <a:xfrm>
              <a:off x="0" y="0"/>
              <a:ext cx="1596540" cy="1584183"/>
              <a:chOff x="0" y="0"/>
              <a:chExt cx="787566" cy="781470"/>
            </a:xfrm>
          </p:grpSpPr>
          <p:sp>
            <p:nvSpPr>
              <p:cNvPr id="21" name="Freeform 21"/>
              <p:cNvSpPr/>
              <p:nvPr/>
            </p:nvSpPr>
            <p:spPr>
              <a:xfrm>
                <a:off x="0" y="0"/>
                <a:ext cx="787566" cy="781470"/>
              </a:xfrm>
              <a:custGeom>
                <a:avLst/>
                <a:gdLst/>
                <a:ahLst/>
                <a:cxnLst/>
                <a:rect l="l" t="t" r="r" b="b"/>
                <a:pathLst>
                  <a:path w="787566" h="781470">
                    <a:moveTo>
                      <a:pt x="0" y="0"/>
                    </a:moveTo>
                    <a:lnTo>
                      <a:pt x="787566" y="0"/>
                    </a:lnTo>
                    <a:lnTo>
                      <a:pt x="787566" y="781470"/>
                    </a:lnTo>
                    <a:lnTo>
                      <a:pt x="0" y="78147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2" name="TextBox 22"/>
              <p:cNvSpPr txBox="1"/>
              <p:nvPr/>
            </p:nvSpPr>
            <p:spPr>
              <a:xfrm>
                <a:off x="0" y="-38100"/>
                <a:ext cx="787566" cy="81957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3" name="TextBox 23"/>
            <p:cNvSpPr txBox="1"/>
            <p:nvPr/>
          </p:nvSpPr>
          <p:spPr>
            <a:xfrm>
              <a:off x="206583" y="454809"/>
              <a:ext cx="1183375" cy="760289"/>
            </a:xfrm>
            <a:prstGeom prst="rect">
              <a:avLst/>
            </a:prstGeom>
          </p:spPr>
          <p:txBody>
            <a:bodyPr lIns="0" tIns="0" rIns="0" bIns="0" rtlCol="0" anchor="t">
              <a:spAutoFit/>
            </a:bodyPr>
            <a:lstStyle/>
            <a:p>
              <a:pPr marL="0" lvl="0" indent="0" algn="ctr">
                <a:lnSpc>
                  <a:spcPts val="4091"/>
                </a:lnSpc>
              </a:pPr>
              <a:r>
                <a:rPr lang="en-US" sz="4174" spc="-267">
                  <a:solidFill>
                    <a:srgbClr val="FFFFFF"/>
                  </a:solidFill>
                  <a:latin typeface="Bricolage Grotesque"/>
                  <a:ea typeface="Bricolage Grotesque"/>
                  <a:cs typeface="Bricolage Grotesque"/>
                  <a:sym typeface="Bricolage Grotesque"/>
                </a:rPr>
                <a:t>03</a:t>
              </a:r>
            </a:p>
          </p:txBody>
        </p:sp>
      </p:grpSp>
      <p:grpSp>
        <p:nvGrpSpPr>
          <p:cNvPr id="24" name="Group 24"/>
          <p:cNvGrpSpPr/>
          <p:nvPr/>
        </p:nvGrpSpPr>
        <p:grpSpPr>
          <a:xfrm>
            <a:off x="13309005" y="17636"/>
            <a:ext cx="1197405" cy="1188137"/>
            <a:chOff x="0" y="0"/>
            <a:chExt cx="1596540" cy="1584183"/>
          </a:xfrm>
        </p:grpSpPr>
        <p:grpSp>
          <p:nvGrpSpPr>
            <p:cNvPr id="25" name="Group 25"/>
            <p:cNvGrpSpPr/>
            <p:nvPr/>
          </p:nvGrpSpPr>
          <p:grpSpPr>
            <a:xfrm>
              <a:off x="0" y="0"/>
              <a:ext cx="1596540" cy="1584183"/>
              <a:chOff x="0" y="0"/>
              <a:chExt cx="787566" cy="781470"/>
            </a:xfrm>
          </p:grpSpPr>
          <p:sp>
            <p:nvSpPr>
              <p:cNvPr id="26" name="Freeform 26"/>
              <p:cNvSpPr/>
              <p:nvPr/>
            </p:nvSpPr>
            <p:spPr>
              <a:xfrm>
                <a:off x="0" y="0"/>
                <a:ext cx="787566" cy="781470"/>
              </a:xfrm>
              <a:custGeom>
                <a:avLst/>
                <a:gdLst/>
                <a:ahLst/>
                <a:cxnLst/>
                <a:rect l="l" t="t" r="r" b="b"/>
                <a:pathLst>
                  <a:path w="787566" h="781470">
                    <a:moveTo>
                      <a:pt x="0" y="0"/>
                    </a:moveTo>
                    <a:lnTo>
                      <a:pt x="787566" y="0"/>
                    </a:lnTo>
                    <a:lnTo>
                      <a:pt x="787566" y="781470"/>
                    </a:lnTo>
                    <a:lnTo>
                      <a:pt x="0" y="78147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7" name="TextBox 27"/>
              <p:cNvSpPr txBox="1"/>
              <p:nvPr/>
            </p:nvSpPr>
            <p:spPr>
              <a:xfrm>
                <a:off x="0" y="-38100"/>
                <a:ext cx="787566" cy="81957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206583" y="454809"/>
              <a:ext cx="1183375" cy="760289"/>
            </a:xfrm>
            <a:prstGeom prst="rect">
              <a:avLst/>
            </a:prstGeom>
          </p:spPr>
          <p:txBody>
            <a:bodyPr lIns="0" tIns="0" rIns="0" bIns="0" rtlCol="0" anchor="t">
              <a:spAutoFit/>
            </a:bodyPr>
            <a:lstStyle/>
            <a:p>
              <a:pPr marL="0" lvl="0" indent="0" algn="ctr">
                <a:lnSpc>
                  <a:spcPts val="4091"/>
                </a:lnSpc>
              </a:pPr>
              <a:r>
                <a:rPr lang="en-US" sz="4174" spc="-267">
                  <a:solidFill>
                    <a:srgbClr val="FFFFFF"/>
                  </a:solidFill>
                  <a:latin typeface="Bricolage Grotesque"/>
                  <a:ea typeface="Bricolage Grotesque"/>
                  <a:cs typeface="Bricolage Grotesque"/>
                  <a:sym typeface="Bricolage Grotesque"/>
                </a:rPr>
                <a:t>04</a:t>
              </a:r>
            </a:p>
          </p:txBody>
        </p:sp>
      </p:grpSp>
      <p:sp>
        <p:nvSpPr>
          <p:cNvPr id="29" name="Freeform 29"/>
          <p:cNvSpPr/>
          <p:nvPr/>
        </p:nvSpPr>
        <p:spPr>
          <a:xfrm>
            <a:off x="10576162" y="1811635"/>
            <a:ext cx="1027403" cy="972920"/>
          </a:xfrm>
          <a:custGeom>
            <a:avLst/>
            <a:gdLst/>
            <a:ahLst/>
            <a:cxnLst/>
            <a:rect l="l" t="t" r="r" b="b"/>
            <a:pathLst>
              <a:path w="1027403" h="972920">
                <a:moveTo>
                  <a:pt x="0" y="0"/>
                </a:moveTo>
                <a:lnTo>
                  <a:pt x="1027404" y="0"/>
                </a:lnTo>
                <a:lnTo>
                  <a:pt x="1027404" y="972919"/>
                </a:lnTo>
                <a:lnTo>
                  <a:pt x="0" y="972919"/>
                </a:lnTo>
                <a:lnTo>
                  <a:pt x="0" y="0"/>
                </a:lnTo>
                <a:close/>
              </a:path>
            </a:pathLst>
          </a:custGeom>
          <a:blipFill>
            <a:blip r:embed="rId2"/>
            <a:stretch>
              <a:fillRect/>
            </a:stretch>
          </a:blipFill>
        </p:spPr>
      </p:sp>
      <p:sp>
        <p:nvSpPr>
          <p:cNvPr id="30" name="Freeform 30"/>
          <p:cNvSpPr/>
          <p:nvPr/>
        </p:nvSpPr>
        <p:spPr>
          <a:xfrm rot="-5400000">
            <a:off x="14922932" y="1860822"/>
            <a:ext cx="1050021" cy="934479"/>
          </a:xfrm>
          <a:custGeom>
            <a:avLst/>
            <a:gdLst/>
            <a:ahLst/>
            <a:cxnLst/>
            <a:rect l="l" t="t" r="r" b="b"/>
            <a:pathLst>
              <a:path w="1050021" h="934479">
                <a:moveTo>
                  <a:pt x="0" y="0"/>
                </a:moveTo>
                <a:lnTo>
                  <a:pt x="1050021" y="0"/>
                </a:lnTo>
                <a:lnTo>
                  <a:pt x="1050021" y="934479"/>
                </a:lnTo>
                <a:lnTo>
                  <a:pt x="0" y="934479"/>
                </a:lnTo>
                <a:lnTo>
                  <a:pt x="0" y="0"/>
                </a:lnTo>
                <a:close/>
              </a:path>
            </a:pathLst>
          </a:custGeom>
          <a:blipFill>
            <a:blip r:embed="rId3"/>
            <a:stretch>
              <a:fillRect/>
            </a:stretch>
          </a:blipFill>
        </p:spPr>
      </p:sp>
      <p:sp>
        <p:nvSpPr>
          <p:cNvPr id="31" name="Freeform 31"/>
          <p:cNvSpPr/>
          <p:nvPr/>
        </p:nvSpPr>
        <p:spPr>
          <a:xfrm>
            <a:off x="1741406" y="1814653"/>
            <a:ext cx="986090" cy="871345"/>
          </a:xfrm>
          <a:custGeom>
            <a:avLst/>
            <a:gdLst/>
            <a:ahLst/>
            <a:cxnLst/>
            <a:rect l="l" t="t" r="r" b="b"/>
            <a:pathLst>
              <a:path w="986090" h="871345">
                <a:moveTo>
                  <a:pt x="0" y="0"/>
                </a:moveTo>
                <a:lnTo>
                  <a:pt x="986090" y="0"/>
                </a:lnTo>
                <a:lnTo>
                  <a:pt x="986090" y="871345"/>
                </a:lnTo>
                <a:lnTo>
                  <a:pt x="0" y="871345"/>
                </a:lnTo>
                <a:lnTo>
                  <a:pt x="0" y="0"/>
                </a:lnTo>
                <a:close/>
              </a:path>
            </a:pathLst>
          </a:custGeom>
          <a:blipFill>
            <a:blip r:embed="rId4"/>
            <a:stretch>
              <a:fillRect/>
            </a:stretch>
          </a:blipFill>
        </p:spPr>
      </p:sp>
      <p:grpSp>
        <p:nvGrpSpPr>
          <p:cNvPr id="32" name="Group 32"/>
          <p:cNvGrpSpPr/>
          <p:nvPr/>
        </p:nvGrpSpPr>
        <p:grpSpPr>
          <a:xfrm>
            <a:off x="1028700" y="8125800"/>
            <a:ext cx="22757" cy="975106"/>
            <a:chOff x="0" y="0"/>
            <a:chExt cx="12543" cy="537460"/>
          </a:xfrm>
        </p:grpSpPr>
        <p:sp>
          <p:nvSpPr>
            <p:cNvPr id="33" name="Freeform 3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34" name="TextBox 3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9525" y="7173190"/>
            <a:ext cx="546689" cy="3113810"/>
            <a:chOff x="0" y="0"/>
            <a:chExt cx="143984" cy="820098"/>
          </a:xfrm>
        </p:grpSpPr>
        <p:sp>
          <p:nvSpPr>
            <p:cNvPr id="36" name="Freeform 36"/>
            <p:cNvSpPr/>
            <p:nvPr/>
          </p:nvSpPr>
          <p:spPr>
            <a:xfrm>
              <a:off x="0" y="0"/>
              <a:ext cx="143984" cy="820098"/>
            </a:xfrm>
            <a:custGeom>
              <a:avLst/>
              <a:gdLst/>
              <a:ahLst/>
              <a:cxnLst/>
              <a:rect l="l" t="t" r="r" b="b"/>
              <a:pathLst>
                <a:path w="143984" h="820098">
                  <a:moveTo>
                    <a:pt x="0" y="0"/>
                  </a:moveTo>
                  <a:lnTo>
                    <a:pt x="143984" y="0"/>
                  </a:lnTo>
                  <a:lnTo>
                    <a:pt x="143984" y="820098"/>
                  </a:lnTo>
                  <a:lnTo>
                    <a:pt x="0" y="820098"/>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37" name="TextBox 37"/>
            <p:cNvSpPr txBox="1"/>
            <p:nvPr/>
          </p:nvSpPr>
          <p:spPr>
            <a:xfrm>
              <a:off x="0" y="-38100"/>
              <a:ext cx="143984" cy="85819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8" name="Freeform 38"/>
          <p:cNvSpPr/>
          <p:nvPr/>
        </p:nvSpPr>
        <p:spPr>
          <a:xfrm>
            <a:off x="6130692" y="1840885"/>
            <a:ext cx="1163358" cy="875187"/>
          </a:xfrm>
          <a:custGeom>
            <a:avLst/>
            <a:gdLst/>
            <a:ahLst/>
            <a:cxnLst/>
            <a:rect l="l" t="t" r="r" b="b"/>
            <a:pathLst>
              <a:path w="1163358" h="875187">
                <a:moveTo>
                  <a:pt x="0" y="0"/>
                </a:moveTo>
                <a:lnTo>
                  <a:pt x="1163358" y="0"/>
                </a:lnTo>
                <a:lnTo>
                  <a:pt x="1163358" y="875187"/>
                </a:lnTo>
                <a:lnTo>
                  <a:pt x="0" y="875187"/>
                </a:lnTo>
                <a:lnTo>
                  <a:pt x="0" y="0"/>
                </a:lnTo>
                <a:close/>
              </a:path>
            </a:pathLst>
          </a:custGeom>
          <a:blipFill>
            <a:blip r:embed="rId5"/>
            <a:stretch>
              <a:fillRect/>
            </a:stretch>
          </a:blipFill>
        </p:spPr>
      </p:sp>
      <p:sp>
        <p:nvSpPr>
          <p:cNvPr id="39" name="TextBox 39"/>
          <p:cNvSpPr txBox="1"/>
          <p:nvPr/>
        </p:nvSpPr>
        <p:spPr>
          <a:xfrm>
            <a:off x="562973" y="4246425"/>
            <a:ext cx="3336787" cy="2143279"/>
          </a:xfrm>
          <a:prstGeom prst="rect">
            <a:avLst/>
          </a:prstGeom>
        </p:spPr>
        <p:txBody>
          <a:bodyPr lIns="0" tIns="0" rIns="0" bIns="0" rtlCol="0" anchor="t">
            <a:spAutoFit/>
          </a:bodyPr>
          <a:lstStyle/>
          <a:p>
            <a:pPr marL="0" lvl="0" indent="0" algn="just">
              <a:lnSpc>
                <a:spcPts val="2384"/>
              </a:lnSpc>
            </a:pPr>
            <a:r>
              <a:rPr lang="en-US" sz="1833" spc="-5" dirty="0">
                <a:solidFill>
                  <a:srgbClr val="3A58E4"/>
                </a:solidFill>
                <a:latin typeface="Poppins"/>
                <a:ea typeface="Poppins"/>
                <a:cs typeface="Poppins"/>
                <a:sym typeface="Poppins"/>
              </a:rPr>
              <a:t>Introduce targeted marketing campaigns during festival periods to capitalize on untapped demand and </a:t>
            </a:r>
            <a:r>
              <a:rPr lang="en-US" sz="1600" spc="-5" dirty="0">
                <a:solidFill>
                  <a:srgbClr val="3A58E4"/>
                </a:solidFill>
                <a:latin typeface="Poppins"/>
                <a:ea typeface="Poppins"/>
                <a:cs typeface="Poppins"/>
                <a:sym typeface="Poppins"/>
              </a:rPr>
              <a:t>increase</a:t>
            </a:r>
            <a:r>
              <a:rPr lang="en-US" sz="1833" spc="-5" dirty="0">
                <a:solidFill>
                  <a:srgbClr val="3A58E4"/>
                </a:solidFill>
                <a:latin typeface="Poppins"/>
                <a:ea typeface="Poppins"/>
                <a:cs typeface="Poppins"/>
                <a:sym typeface="Poppins"/>
              </a:rPr>
              <a:t> order volume beyond the current 896 festival orders.</a:t>
            </a:r>
          </a:p>
        </p:txBody>
      </p:sp>
      <p:sp>
        <p:nvSpPr>
          <p:cNvPr id="40" name="TextBox 40"/>
          <p:cNvSpPr txBox="1"/>
          <p:nvPr/>
        </p:nvSpPr>
        <p:spPr>
          <a:xfrm>
            <a:off x="4989081" y="4246425"/>
            <a:ext cx="3336787" cy="2072208"/>
          </a:xfrm>
          <a:prstGeom prst="rect">
            <a:avLst/>
          </a:prstGeom>
        </p:spPr>
        <p:txBody>
          <a:bodyPr lIns="0" tIns="0" rIns="0" bIns="0" rtlCol="0" anchor="t">
            <a:spAutoFit/>
          </a:bodyPr>
          <a:lstStyle/>
          <a:p>
            <a:pPr marL="0" lvl="0" indent="0" algn="just">
              <a:lnSpc>
                <a:spcPts val="2384"/>
              </a:lnSpc>
            </a:pPr>
            <a:r>
              <a:rPr lang="en-US" sz="1833" spc="-5">
                <a:solidFill>
                  <a:srgbClr val="3A58E4"/>
                </a:solidFill>
                <a:latin typeface="Poppins"/>
                <a:ea typeface="Poppins"/>
                <a:cs typeface="Poppins"/>
                <a:sym typeface="Poppins"/>
              </a:rPr>
              <a:t>Scale delivery resources and infrastructure in metropolitan cities, which account for 34,093 orders — the highest volume — to sustain growth and meet rising demand.</a:t>
            </a:r>
          </a:p>
        </p:txBody>
      </p:sp>
      <p:sp>
        <p:nvSpPr>
          <p:cNvPr id="41" name="TextBox 41"/>
          <p:cNvSpPr txBox="1"/>
          <p:nvPr/>
        </p:nvSpPr>
        <p:spPr>
          <a:xfrm>
            <a:off x="9415189" y="4246425"/>
            <a:ext cx="3336787" cy="2072208"/>
          </a:xfrm>
          <a:prstGeom prst="rect">
            <a:avLst/>
          </a:prstGeom>
        </p:spPr>
        <p:txBody>
          <a:bodyPr lIns="0" tIns="0" rIns="0" bIns="0" rtlCol="0" anchor="t">
            <a:spAutoFit/>
          </a:bodyPr>
          <a:lstStyle/>
          <a:p>
            <a:pPr marL="0" lvl="0" indent="0" algn="just">
              <a:lnSpc>
                <a:spcPts val="2384"/>
              </a:lnSpc>
            </a:pPr>
            <a:r>
              <a:rPr lang="en-US" sz="1833" spc="-5">
                <a:solidFill>
                  <a:srgbClr val="3A58E4"/>
                </a:solidFill>
                <a:latin typeface="Poppins"/>
                <a:ea typeface="Poppins"/>
                <a:cs typeface="Poppins"/>
                <a:sym typeface="Poppins"/>
              </a:rPr>
              <a:t>Implement dynamic, traffic-aware routing to reduce delivery delays during high and jam traffic conditions, improving overall delivery efficiency and customer satisfaction.</a:t>
            </a:r>
          </a:p>
        </p:txBody>
      </p:sp>
      <p:sp>
        <p:nvSpPr>
          <p:cNvPr id="42" name="TextBox 42"/>
          <p:cNvSpPr txBox="1"/>
          <p:nvPr/>
        </p:nvSpPr>
        <p:spPr>
          <a:xfrm>
            <a:off x="13844769" y="4246425"/>
            <a:ext cx="3336787" cy="2072208"/>
          </a:xfrm>
          <a:prstGeom prst="rect">
            <a:avLst/>
          </a:prstGeom>
        </p:spPr>
        <p:txBody>
          <a:bodyPr lIns="0" tIns="0" rIns="0" bIns="0" rtlCol="0" anchor="t">
            <a:spAutoFit/>
          </a:bodyPr>
          <a:lstStyle/>
          <a:p>
            <a:pPr marL="0" lvl="0" indent="0" algn="just">
              <a:lnSpc>
                <a:spcPts val="2384"/>
              </a:lnSpc>
            </a:pPr>
            <a:r>
              <a:rPr lang="en-US" sz="1833" spc="-5">
                <a:solidFill>
                  <a:srgbClr val="3A58E4"/>
                </a:solidFill>
                <a:latin typeface="Poppins"/>
                <a:ea typeface="Poppins"/>
                <a:cs typeface="Poppins"/>
                <a:sym typeface="Poppins"/>
              </a:rPr>
              <a:t>Expand electric scooter fleet adoption for sustainability gains, and address slow-category deliveries (8,006 orders) through operational improvements to shift more orders into the fast category.</a:t>
            </a:r>
          </a:p>
        </p:txBody>
      </p:sp>
      <p:sp>
        <p:nvSpPr>
          <p:cNvPr id="43" name="TextBox 43"/>
          <p:cNvSpPr txBox="1"/>
          <p:nvPr/>
        </p:nvSpPr>
        <p:spPr>
          <a:xfrm>
            <a:off x="1137678" y="7779280"/>
            <a:ext cx="2762082" cy="1479020"/>
          </a:xfrm>
          <a:prstGeom prst="rect">
            <a:avLst/>
          </a:prstGeom>
        </p:spPr>
        <p:txBody>
          <a:bodyPr lIns="0" tIns="0" rIns="0" bIns="0" rtlCol="0" anchor="t">
            <a:spAutoFit/>
          </a:bodyPr>
          <a:lstStyle/>
          <a:p>
            <a:pPr marL="0" lvl="0" indent="0" algn="l">
              <a:lnSpc>
                <a:spcPts val="3816"/>
              </a:lnSpc>
            </a:pPr>
            <a:r>
              <a:rPr lang="en-US" sz="3894" spc="-249">
                <a:gradFill>
                  <a:gsLst>
                    <a:gs pos="0">
                      <a:srgbClr val="3A58E4">
                        <a:alpha val="100000"/>
                      </a:srgbClr>
                    </a:gs>
                    <a:gs pos="100000">
                      <a:srgbClr val="293E9C">
                        <a:alpha val="100000"/>
                      </a:srgbClr>
                    </a:gs>
                  </a:gsLst>
                  <a:path path="circle">
                    <a:fillToRect r="100000" b="100000"/>
                  </a:path>
                  <a:tileRect l="-100000" t="-100000"/>
                </a:gradFill>
                <a:latin typeface="Bricolage Grotesque"/>
                <a:ea typeface="Bricolage Grotesque"/>
                <a:cs typeface="Bricolage Grotesque"/>
                <a:sym typeface="Bricolage Grotesque"/>
              </a:rPr>
              <a:t>Business Recommendations</a:t>
            </a:r>
          </a:p>
        </p:txBody>
      </p:sp>
      <p:sp>
        <p:nvSpPr>
          <p:cNvPr id="44" name="TextBox 44"/>
          <p:cNvSpPr txBox="1"/>
          <p:nvPr/>
        </p:nvSpPr>
        <p:spPr>
          <a:xfrm>
            <a:off x="4989081" y="7785456"/>
            <a:ext cx="7762895" cy="1315450"/>
          </a:xfrm>
          <a:prstGeom prst="rect">
            <a:avLst/>
          </a:prstGeom>
        </p:spPr>
        <p:txBody>
          <a:bodyPr lIns="0" tIns="0" rIns="0" bIns="0" rtlCol="0" anchor="t">
            <a:spAutoFit/>
          </a:bodyPr>
          <a:lstStyle/>
          <a:p>
            <a:pPr marL="0" lvl="0" indent="0" algn="just">
              <a:lnSpc>
                <a:spcPts val="2604"/>
              </a:lnSpc>
            </a:pPr>
            <a:r>
              <a:rPr lang="en-US" sz="1860" spc="-5">
                <a:solidFill>
                  <a:srgbClr val="3A58E4"/>
                </a:solidFill>
                <a:latin typeface="Poppins"/>
                <a:ea typeface="Poppins"/>
                <a:cs typeface="Poppins"/>
                <a:sym typeface="Poppins"/>
              </a:rPr>
              <a:t>These strategic recommendations are derived from dashboard insights to enhance delivery performance, improve customer satisfaction, optimize operations, and drive sustainable business growth across all city types.</a:t>
            </a:r>
          </a:p>
        </p:txBody>
      </p:sp>
      <p:sp>
        <p:nvSpPr>
          <p:cNvPr id="45" name="TextBox 45"/>
          <p:cNvSpPr txBox="1"/>
          <p:nvPr/>
        </p:nvSpPr>
        <p:spPr>
          <a:xfrm>
            <a:off x="512270" y="3090400"/>
            <a:ext cx="3438193" cy="807065"/>
          </a:xfrm>
          <a:prstGeom prst="rect">
            <a:avLst/>
          </a:prstGeom>
        </p:spPr>
        <p:txBody>
          <a:bodyPr lIns="0" tIns="0" rIns="0" bIns="0" rtlCol="0" anchor="t">
            <a:spAutoFit/>
          </a:bodyPr>
          <a:lstStyle/>
          <a:p>
            <a:pPr marL="0" lvl="0" indent="0" algn="ctr">
              <a:lnSpc>
                <a:spcPts val="3291"/>
              </a:lnSpc>
              <a:spcBef>
                <a:spcPct val="0"/>
              </a:spcBef>
            </a:pPr>
            <a:r>
              <a:rPr lang="en-US" sz="2350" b="1" spc="-150">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FESTIVAL SEASON PROMOTIONS</a:t>
            </a:r>
          </a:p>
        </p:txBody>
      </p:sp>
      <p:sp>
        <p:nvSpPr>
          <p:cNvPr id="46" name="TextBox 46"/>
          <p:cNvSpPr txBox="1"/>
          <p:nvPr/>
        </p:nvSpPr>
        <p:spPr>
          <a:xfrm>
            <a:off x="4938378" y="3090400"/>
            <a:ext cx="3438193" cy="807065"/>
          </a:xfrm>
          <a:prstGeom prst="rect">
            <a:avLst/>
          </a:prstGeom>
        </p:spPr>
        <p:txBody>
          <a:bodyPr lIns="0" tIns="0" rIns="0" bIns="0" rtlCol="0" anchor="t">
            <a:spAutoFit/>
          </a:bodyPr>
          <a:lstStyle/>
          <a:p>
            <a:pPr marL="0" lvl="0" indent="0" algn="ctr">
              <a:lnSpc>
                <a:spcPts val="3291"/>
              </a:lnSpc>
              <a:spcBef>
                <a:spcPct val="0"/>
              </a:spcBef>
            </a:pPr>
            <a:r>
              <a:rPr lang="en-US" sz="2350" b="1" spc="-150">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EXPAND METROPOLITAN CAPACITY</a:t>
            </a:r>
          </a:p>
        </p:txBody>
      </p:sp>
      <p:sp>
        <p:nvSpPr>
          <p:cNvPr id="47" name="TextBox 47"/>
          <p:cNvSpPr txBox="1"/>
          <p:nvPr/>
        </p:nvSpPr>
        <p:spPr>
          <a:xfrm>
            <a:off x="9364486" y="3090400"/>
            <a:ext cx="3438193" cy="807065"/>
          </a:xfrm>
          <a:prstGeom prst="rect">
            <a:avLst/>
          </a:prstGeom>
        </p:spPr>
        <p:txBody>
          <a:bodyPr lIns="0" tIns="0" rIns="0" bIns="0" rtlCol="0" anchor="t">
            <a:spAutoFit/>
          </a:bodyPr>
          <a:lstStyle/>
          <a:p>
            <a:pPr marL="0" lvl="0" indent="0" algn="ctr">
              <a:lnSpc>
                <a:spcPts val="3291"/>
              </a:lnSpc>
            </a:pPr>
            <a:r>
              <a:rPr lang="en-US" sz="2350" b="1" spc="-150">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TRAFFIC-AWARE ROUTE OPTIMIZATION</a:t>
            </a:r>
          </a:p>
        </p:txBody>
      </p:sp>
      <p:sp>
        <p:nvSpPr>
          <p:cNvPr id="48" name="TextBox 48"/>
          <p:cNvSpPr txBox="1"/>
          <p:nvPr/>
        </p:nvSpPr>
        <p:spPr>
          <a:xfrm>
            <a:off x="13794066" y="3090400"/>
            <a:ext cx="3438193" cy="807065"/>
          </a:xfrm>
          <a:prstGeom prst="rect">
            <a:avLst/>
          </a:prstGeom>
        </p:spPr>
        <p:txBody>
          <a:bodyPr lIns="0" tIns="0" rIns="0" bIns="0" rtlCol="0" anchor="t">
            <a:spAutoFit/>
          </a:bodyPr>
          <a:lstStyle/>
          <a:p>
            <a:pPr marL="0" lvl="0" indent="0" algn="ctr">
              <a:lnSpc>
                <a:spcPts val="3291"/>
              </a:lnSpc>
            </a:pPr>
            <a:r>
              <a:rPr lang="en-US" sz="2350" b="1" spc="-150">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BOOST EV USAGE &amp; REDUCE SLOW DELIVERIES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666284"/>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438046" y="164166"/>
            <a:ext cx="1849954" cy="1684000"/>
            <a:chOff x="0" y="0"/>
            <a:chExt cx="2466605" cy="2245334"/>
          </a:xfrm>
        </p:grpSpPr>
        <p:grpSp>
          <p:nvGrpSpPr>
            <p:cNvPr id="6" name="Group 6"/>
            <p:cNvGrpSpPr/>
            <p:nvPr/>
          </p:nvGrpSpPr>
          <p:grpSpPr>
            <a:xfrm>
              <a:off x="0" y="0"/>
              <a:ext cx="2466605" cy="2245334"/>
              <a:chOff x="0" y="0"/>
              <a:chExt cx="787566" cy="716916"/>
            </a:xfrm>
          </p:grpSpPr>
          <p:sp>
            <p:nvSpPr>
              <p:cNvPr id="7" name="Freeform 7"/>
              <p:cNvSpPr/>
              <p:nvPr/>
            </p:nvSpPr>
            <p:spPr>
              <a:xfrm>
                <a:off x="0" y="0"/>
                <a:ext cx="787566" cy="716916"/>
              </a:xfrm>
              <a:custGeom>
                <a:avLst/>
                <a:gdLst/>
                <a:ahLst/>
                <a:cxnLst/>
                <a:rect l="l" t="t" r="r" b="b"/>
                <a:pathLst>
                  <a:path w="787566" h="716916">
                    <a:moveTo>
                      <a:pt x="0" y="0"/>
                    </a:moveTo>
                    <a:lnTo>
                      <a:pt x="787566" y="0"/>
                    </a:lnTo>
                    <a:lnTo>
                      <a:pt x="787566" y="716916"/>
                    </a:lnTo>
                    <a:lnTo>
                      <a:pt x="0" y="716916"/>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8" name="TextBox 8"/>
              <p:cNvSpPr txBox="1"/>
              <p:nvPr/>
            </p:nvSpPr>
            <p:spPr>
              <a:xfrm>
                <a:off x="0" y="-38100"/>
                <a:ext cx="787566" cy="75501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319164" y="674999"/>
              <a:ext cx="1828278" cy="1000111"/>
            </a:xfrm>
            <a:prstGeom prst="rect">
              <a:avLst/>
            </a:prstGeom>
          </p:spPr>
          <p:txBody>
            <a:bodyPr lIns="0" tIns="0" rIns="0" bIns="0" rtlCol="0" anchor="t">
              <a:spAutoFit/>
            </a:bodyPr>
            <a:lstStyle/>
            <a:p>
              <a:pPr marL="0" lvl="0" indent="0" algn="ctr">
                <a:lnSpc>
                  <a:spcPts val="5345"/>
                </a:lnSpc>
              </a:pPr>
              <a:r>
                <a:rPr lang="en-US" sz="5454" spc="-349">
                  <a:solidFill>
                    <a:srgbClr val="FFFFFF"/>
                  </a:solidFill>
                  <a:latin typeface="Bricolage Grotesque"/>
                  <a:ea typeface="Bricolage Grotesque"/>
                  <a:cs typeface="Bricolage Grotesque"/>
                  <a:sym typeface="Bricolage Grotesque"/>
                </a:rPr>
                <a:t>12</a:t>
              </a:r>
            </a:p>
          </p:txBody>
        </p:sp>
      </p:grpSp>
      <p:sp>
        <p:nvSpPr>
          <p:cNvPr id="10" name="Freeform 10"/>
          <p:cNvSpPr/>
          <p:nvPr/>
        </p:nvSpPr>
        <p:spPr>
          <a:xfrm>
            <a:off x="9066588" y="1311265"/>
            <a:ext cx="8223584" cy="8702205"/>
          </a:xfrm>
          <a:custGeom>
            <a:avLst/>
            <a:gdLst/>
            <a:ahLst/>
            <a:cxnLst/>
            <a:rect l="l" t="t" r="r" b="b"/>
            <a:pathLst>
              <a:path w="8223584" h="8702205">
                <a:moveTo>
                  <a:pt x="0" y="0"/>
                </a:moveTo>
                <a:lnTo>
                  <a:pt x="8223584" y="0"/>
                </a:lnTo>
                <a:lnTo>
                  <a:pt x="8223584" y="8702205"/>
                </a:lnTo>
                <a:lnTo>
                  <a:pt x="0" y="8702205"/>
                </a:lnTo>
                <a:lnTo>
                  <a:pt x="0" y="0"/>
                </a:lnTo>
                <a:close/>
              </a:path>
            </a:pathLst>
          </a:custGeom>
          <a:blipFill>
            <a:blip r:embed="rId2"/>
            <a:stretch>
              <a:fillRect/>
            </a:stretch>
          </a:blipFill>
        </p:spPr>
      </p:sp>
      <p:grpSp>
        <p:nvGrpSpPr>
          <p:cNvPr id="11" name="Group 11"/>
          <p:cNvGrpSpPr/>
          <p:nvPr/>
        </p:nvGrpSpPr>
        <p:grpSpPr>
          <a:xfrm>
            <a:off x="1028700" y="4407668"/>
            <a:ext cx="6730921" cy="379246"/>
            <a:chOff x="0" y="0"/>
            <a:chExt cx="8974562" cy="505662"/>
          </a:xfrm>
        </p:grpSpPr>
        <p:sp>
          <p:nvSpPr>
            <p:cNvPr id="12" name="TextBox 12"/>
            <p:cNvSpPr txBox="1"/>
            <p:nvPr/>
          </p:nvSpPr>
          <p:spPr>
            <a:xfrm>
              <a:off x="0" y="58086"/>
              <a:ext cx="8974562" cy="447576"/>
            </a:xfrm>
            <a:prstGeom prst="rect">
              <a:avLst/>
            </a:prstGeom>
          </p:spPr>
          <p:txBody>
            <a:bodyPr lIns="0" tIns="0" rIns="0" bIns="0" rtlCol="0" anchor="t">
              <a:spAutoFit/>
            </a:bodyPr>
            <a:lstStyle/>
            <a:p>
              <a:pPr marL="0" lvl="0" indent="0" algn="l">
                <a:lnSpc>
                  <a:spcPts val="2760"/>
                </a:lnSpc>
              </a:pPr>
              <a:r>
                <a:rPr lang="en-US" sz="1971" b="1" spc="-4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FOOD DELIVERY SYSTEM ANALYSIS – PROJECT SUMMARY</a:t>
              </a:r>
            </a:p>
          </p:txBody>
        </p:sp>
        <p:sp>
          <p:nvSpPr>
            <p:cNvPr id="13" name="Freeform 13"/>
            <p:cNvSpPr/>
            <p:nvPr/>
          </p:nvSpPr>
          <p:spPr>
            <a:xfrm rot="-8687136">
              <a:off x="8443725"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sp>
        <p:nvSpPr>
          <p:cNvPr id="14" name="TextBox 14"/>
          <p:cNvSpPr txBox="1"/>
          <p:nvPr/>
        </p:nvSpPr>
        <p:spPr>
          <a:xfrm>
            <a:off x="1256766" y="2815066"/>
            <a:ext cx="5412331" cy="1221273"/>
          </a:xfrm>
          <a:prstGeom prst="rect">
            <a:avLst/>
          </a:prstGeom>
        </p:spPr>
        <p:txBody>
          <a:bodyPr lIns="0" tIns="0" rIns="0" bIns="0" rtlCol="0" anchor="t">
            <a:spAutoFit/>
          </a:bodyPr>
          <a:lstStyle/>
          <a:p>
            <a:pPr marL="0" lvl="0" indent="0" algn="l">
              <a:lnSpc>
                <a:spcPts val="9122"/>
              </a:lnSpc>
            </a:pPr>
            <a:r>
              <a:rPr lang="en-US" sz="9309" spc="-595">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Conclusion</a:t>
            </a:r>
          </a:p>
        </p:txBody>
      </p:sp>
      <p:sp>
        <p:nvSpPr>
          <p:cNvPr id="15" name="TextBox 15"/>
          <p:cNvSpPr txBox="1"/>
          <p:nvPr/>
        </p:nvSpPr>
        <p:spPr>
          <a:xfrm>
            <a:off x="1028700" y="5273910"/>
            <a:ext cx="6570559" cy="3676194"/>
          </a:xfrm>
          <a:prstGeom prst="rect">
            <a:avLst/>
          </a:prstGeom>
        </p:spPr>
        <p:txBody>
          <a:bodyPr lIns="0" tIns="0" rIns="0" bIns="0" rtlCol="0" anchor="t">
            <a:spAutoFit/>
          </a:bodyPr>
          <a:lstStyle/>
          <a:p>
            <a:pPr marL="0" lvl="0" indent="0" algn="just">
              <a:lnSpc>
                <a:spcPts val="2650"/>
              </a:lnSpc>
            </a:pPr>
            <a:r>
              <a:rPr lang="en-US" sz="1892" spc="-5">
                <a:solidFill>
                  <a:srgbClr val="3A58E4"/>
                </a:solidFill>
                <a:latin typeface="Poppins"/>
                <a:ea typeface="Poppins"/>
                <a:cs typeface="Poppins"/>
                <a:sym typeface="Poppins"/>
              </a:rPr>
              <a:t>The Food Delivery System Analysis dashboard provides a comprehensive view of delivery performance using Tableau, enabling real-time monitoring of operational efficiency and customer satisfaction.</a:t>
            </a:r>
          </a:p>
          <a:p>
            <a:pPr marL="0" lvl="0" indent="0" algn="just">
              <a:lnSpc>
                <a:spcPts val="2650"/>
              </a:lnSpc>
            </a:pPr>
            <a:r>
              <a:rPr lang="en-US" sz="1892" spc="-5">
                <a:solidFill>
                  <a:srgbClr val="3A58E4"/>
                </a:solidFill>
                <a:latin typeface="Poppins"/>
                <a:ea typeface="Poppins"/>
                <a:cs typeface="Poppins"/>
                <a:sym typeface="Poppins"/>
              </a:rPr>
              <a:t>Key insights across traffic conditions, city types, vehicle usage, and festival impact empower decision-makers to identify trends and improve delivery operations.</a:t>
            </a:r>
          </a:p>
          <a:p>
            <a:pPr marL="0" lvl="0" indent="0" algn="just">
              <a:lnSpc>
                <a:spcPts val="2650"/>
              </a:lnSpc>
            </a:pPr>
            <a:r>
              <a:rPr lang="en-US" sz="1892" spc="-5">
                <a:solidFill>
                  <a:srgbClr val="3A58E4"/>
                </a:solidFill>
                <a:latin typeface="Poppins"/>
                <a:ea typeface="Poppins"/>
                <a:cs typeface="Poppins"/>
                <a:sym typeface="Poppins"/>
              </a:rPr>
              <a:t>Through interactive data visualization, this project reinforces a data-driven approach to enhancing food delivery system performance and supports strategic business planning for sustainable growth.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41386" y="0"/>
            <a:ext cx="4646614" cy="10287000"/>
            <a:chOff x="0" y="0"/>
            <a:chExt cx="1223800" cy="2709333"/>
          </a:xfrm>
        </p:grpSpPr>
        <p:sp>
          <p:nvSpPr>
            <p:cNvPr id="3" name="Freeform 3"/>
            <p:cNvSpPr/>
            <p:nvPr/>
          </p:nvSpPr>
          <p:spPr>
            <a:xfrm>
              <a:off x="0" y="0"/>
              <a:ext cx="1223800" cy="2709333"/>
            </a:xfrm>
            <a:custGeom>
              <a:avLst/>
              <a:gdLst/>
              <a:ahLst/>
              <a:cxnLst/>
              <a:rect l="l" t="t" r="r" b="b"/>
              <a:pathLst>
                <a:path w="1223800" h="2709333">
                  <a:moveTo>
                    <a:pt x="0" y="0"/>
                  </a:moveTo>
                  <a:lnTo>
                    <a:pt x="1223800" y="0"/>
                  </a:lnTo>
                  <a:lnTo>
                    <a:pt x="1223800"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223800" cy="27474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5102839" y="1172167"/>
            <a:ext cx="1723707" cy="7603343"/>
            <a:chOff x="0" y="0"/>
            <a:chExt cx="2298277" cy="10137792"/>
          </a:xfrm>
        </p:grpSpPr>
        <p:sp>
          <p:nvSpPr>
            <p:cNvPr id="6" name="Freeform 6"/>
            <p:cNvSpPr/>
            <p:nvPr/>
          </p:nvSpPr>
          <p:spPr>
            <a:xfrm>
              <a:off x="651979" y="0"/>
              <a:ext cx="981294" cy="947395"/>
            </a:xfrm>
            <a:custGeom>
              <a:avLst/>
              <a:gdLst/>
              <a:ahLst/>
              <a:cxnLst/>
              <a:rect l="l" t="t" r="r" b="b"/>
              <a:pathLst>
                <a:path w="981294" h="947395">
                  <a:moveTo>
                    <a:pt x="0" y="0"/>
                  </a:moveTo>
                  <a:lnTo>
                    <a:pt x="981294" y="0"/>
                  </a:lnTo>
                  <a:lnTo>
                    <a:pt x="981294" y="947395"/>
                  </a:lnTo>
                  <a:lnTo>
                    <a:pt x="0" y="94739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0" y="1263035"/>
              <a:ext cx="2272228" cy="333579"/>
            </a:xfrm>
            <a:prstGeom prst="rect">
              <a:avLst/>
            </a:prstGeom>
          </p:spPr>
          <p:txBody>
            <a:bodyPr lIns="0" tIns="0" rIns="0" bIns="0" rtlCol="0" anchor="t">
              <a:spAutoFit/>
            </a:bodyPr>
            <a:lstStyle/>
            <a:p>
              <a:pPr marL="0" lvl="0" indent="0" algn="ctr">
                <a:lnSpc>
                  <a:spcPts val="1861"/>
                </a:lnSpc>
              </a:pPr>
              <a:r>
                <a:rPr lang="en-US" sz="1740" b="1">
                  <a:solidFill>
                    <a:srgbClr val="FFFFFF"/>
                  </a:solidFill>
                  <a:latin typeface="Poppins Bold"/>
                  <a:ea typeface="Poppins Bold"/>
                  <a:cs typeface="Poppins Bold"/>
                  <a:sym typeface="Poppins Bold"/>
                </a:rPr>
                <a:t>Rucha</a:t>
              </a:r>
            </a:p>
          </p:txBody>
        </p:sp>
        <p:sp>
          <p:nvSpPr>
            <p:cNvPr id="8" name="TextBox 8"/>
            <p:cNvSpPr txBox="1"/>
            <p:nvPr/>
          </p:nvSpPr>
          <p:spPr>
            <a:xfrm>
              <a:off x="13024" y="1606139"/>
              <a:ext cx="2272228" cy="333579"/>
            </a:xfrm>
            <a:prstGeom prst="rect">
              <a:avLst/>
            </a:prstGeom>
          </p:spPr>
          <p:txBody>
            <a:bodyPr lIns="0" tIns="0" rIns="0" bIns="0" rtlCol="0" anchor="t">
              <a:spAutoFit/>
            </a:bodyPr>
            <a:lstStyle/>
            <a:p>
              <a:pPr marL="0" lvl="0" indent="0" algn="ctr">
                <a:lnSpc>
                  <a:spcPts val="1861"/>
                </a:lnSpc>
              </a:pPr>
              <a:r>
                <a:rPr lang="en-US" sz="1740">
                  <a:solidFill>
                    <a:srgbClr val="FFFFFF"/>
                  </a:solidFill>
                  <a:latin typeface="Poppins"/>
                  <a:ea typeface="Poppins"/>
                  <a:cs typeface="Poppins"/>
                  <a:sym typeface="Poppins"/>
                </a:rPr>
                <a:t>Presenter</a:t>
              </a:r>
            </a:p>
          </p:txBody>
        </p:sp>
        <p:sp>
          <p:nvSpPr>
            <p:cNvPr id="10" name="TextBox 10"/>
            <p:cNvSpPr txBox="1"/>
            <p:nvPr/>
          </p:nvSpPr>
          <p:spPr>
            <a:xfrm>
              <a:off x="26049" y="9804213"/>
              <a:ext cx="2272228" cy="333579"/>
            </a:xfrm>
            <a:prstGeom prst="rect">
              <a:avLst/>
            </a:prstGeom>
          </p:spPr>
          <p:txBody>
            <a:bodyPr lIns="0" tIns="0" rIns="0" bIns="0" rtlCol="0" anchor="t">
              <a:spAutoFit/>
            </a:bodyPr>
            <a:lstStyle/>
            <a:p>
              <a:pPr marL="0" lvl="0" indent="0" algn="ctr">
                <a:lnSpc>
                  <a:spcPts val="1861"/>
                </a:lnSpc>
              </a:pPr>
              <a:endParaRPr lang="en-US" sz="1740" dirty="0">
                <a:solidFill>
                  <a:srgbClr val="FFFFFF"/>
                </a:solidFill>
                <a:latin typeface="Poppins"/>
                <a:ea typeface="Poppins"/>
                <a:cs typeface="Poppins"/>
                <a:sym typeface="Poppins"/>
              </a:endParaRPr>
            </a:p>
          </p:txBody>
        </p:sp>
      </p:grpSp>
      <p:sp>
        <p:nvSpPr>
          <p:cNvPr id="11" name="Freeform 11"/>
          <p:cNvSpPr/>
          <p:nvPr/>
        </p:nvSpPr>
        <p:spPr>
          <a:xfrm>
            <a:off x="1028700" y="7308293"/>
            <a:ext cx="441831" cy="441831"/>
          </a:xfrm>
          <a:custGeom>
            <a:avLst/>
            <a:gdLst/>
            <a:ahLst/>
            <a:cxnLst/>
            <a:rect l="l" t="t" r="r" b="b"/>
            <a:pathLst>
              <a:path w="441831" h="441831">
                <a:moveTo>
                  <a:pt x="0" y="0"/>
                </a:moveTo>
                <a:lnTo>
                  <a:pt x="441831" y="0"/>
                </a:lnTo>
                <a:lnTo>
                  <a:pt x="441831" y="441831"/>
                </a:lnTo>
                <a:lnTo>
                  <a:pt x="0" y="4418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1028700" y="7988737"/>
            <a:ext cx="441831" cy="441831"/>
          </a:xfrm>
          <a:custGeom>
            <a:avLst/>
            <a:gdLst/>
            <a:ahLst/>
            <a:cxnLst/>
            <a:rect l="l" t="t" r="r" b="b"/>
            <a:pathLst>
              <a:path w="441831" h="441831">
                <a:moveTo>
                  <a:pt x="0" y="0"/>
                </a:moveTo>
                <a:lnTo>
                  <a:pt x="441831" y="0"/>
                </a:lnTo>
                <a:lnTo>
                  <a:pt x="441831" y="441831"/>
                </a:lnTo>
                <a:lnTo>
                  <a:pt x="0" y="4418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28700" y="8673002"/>
            <a:ext cx="441831" cy="441831"/>
          </a:xfrm>
          <a:custGeom>
            <a:avLst/>
            <a:gdLst/>
            <a:ahLst/>
            <a:cxnLst/>
            <a:rect l="l" t="t" r="r" b="b"/>
            <a:pathLst>
              <a:path w="441831" h="441831">
                <a:moveTo>
                  <a:pt x="0" y="0"/>
                </a:moveTo>
                <a:lnTo>
                  <a:pt x="441831" y="0"/>
                </a:lnTo>
                <a:lnTo>
                  <a:pt x="441831" y="441831"/>
                </a:lnTo>
                <a:lnTo>
                  <a:pt x="0" y="44183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4" name="Group 14"/>
          <p:cNvGrpSpPr/>
          <p:nvPr/>
        </p:nvGrpSpPr>
        <p:grpSpPr>
          <a:xfrm>
            <a:off x="8986465" y="0"/>
            <a:ext cx="4378150" cy="10287000"/>
            <a:chOff x="0" y="0"/>
            <a:chExt cx="678290" cy="1593725"/>
          </a:xfrm>
        </p:grpSpPr>
        <p:sp>
          <p:nvSpPr>
            <p:cNvPr id="15" name="Freeform 15"/>
            <p:cNvSpPr/>
            <p:nvPr/>
          </p:nvSpPr>
          <p:spPr>
            <a:xfrm>
              <a:off x="0" y="0"/>
              <a:ext cx="678290" cy="1593725"/>
            </a:xfrm>
            <a:custGeom>
              <a:avLst/>
              <a:gdLst/>
              <a:ahLst/>
              <a:cxnLst/>
              <a:rect l="l" t="t" r="r" b="b"/>
              <a:pathLst>
                <a:path w="678290" h="1593725">
                  <a:moveTo>
                    <a:pt x="0" y="0"/>
                  </a:moveTo>
                  <a:lnTo>
                    <a:pt x="678290" y="0"/>
                  </a:lnTo>
                  <a:lnTo>
                    <a:pt x="678290" y="1593725"/>
                  </a:lnTo>
                  <a:lnTo>
                    <a:pt x="0" y="1593725"/>
                  </a:lnTo>
                  <a:close/>
                </a:path>
              </a:pathLst>
            </a:custGeom>
            <a:blipFill>
              <a:blip r:embed="rId6"/>
              <a:stretch>
                <a:fillRect t="-70" b="-70"/>
              </a:stretch>
            </a:blipFill>
          </p:spPr>
        </p:sp>
      </p:grpSp>
      <p:sp>
        <p:nvSpPr>
          <p:cNvPr id="16" name="AutoShape 16"/>
          <p:cNvSpPr/>
          <p:nvPr/>
        </p:nvSpPr>
        <p:spPr>
          <a:xfrm>
            <a:off x="13503000" y="0"/>
            <a:ext cx="0" cy="10287000"/>
          </a:xfrm>
          <a:prstGeom prst="line">
            <a:avLst/>
          </a:prstGeom>
          <a:ln w="19050" cap="rnd">
            <a:solidFill>
              <a:srgbClr val="3A58E4"/>
            </a:solidFill>
            <a:prstDash val="solid"/>
            <a:headEnd type="none" w="sm" len="sm"/>
            <a:tailEnd type="none" w="sm" len="sm"/>
          </a:ln>
        </p:spPr>
      </p:sp>
      <p:sp>
        <p:nvSpPr>
          <p:cNvPr id="17" name="TextBox 17"/>
          <p:cNvSpPr txBox="1"/>
          <p:nvPr/>
        </p:nvSpPr>
        <p:spPr>
          <a:xfrm>
            <a:off x="14650619" y="5267443"/>
            <a:ext cx="2628148" cy="1692102"/>
          </a:xfrm>
          <a:prstGeom prst="rect">
            <a:avLst/>
          </a:prstGeom>
        </p:spPr>
        <p:txBody>
          <a:bodyPr lIns="0" tIns="0" rIns="0" bIns="0" rtlCol="0" anchor="t">
            <a:spAutoFit/>
          </a:bodyPr>
          <a:lstStyle/>
          <a:p>
            <a:pPr marL="0" lvl="0" indent="0" algn="just">
              <a:lnSpc>
                <a:spcPts val="1942"/>
              </a:lnSpc>
            </a:pPr>
            <a:r>
              <a:rPr lang="en-US" sz="1387" spc="-4">
                <a:solidFill>
                  <a:srgbClr val="FFFFFF"/>
                </a:solidFill>
                <a:latin typeface="Poppins"/>
                <a:ea typeface="Poppins"/>
                <a:cs typeface="Poppins"/>
                <a:sym typeface="Poppins"/>
              </a:rPr>
              <a:t>Food Delivery System Analysis – Capstone Project 1. Presented by Rucha using Tableau. Dataset: Food Delivery System Dataset. Thank you for your attention and valuable time.</a:t>
            </a:r>
          </a:p>
        </p:txBody>
      </p:sp>
      <p:sp>
        <p:nvSpPr>
          <p:cNvPr id="18" name="TextBox 18"/>
          <p:cNvSpPr txBox="1"/>
          <p:nvPr/>
        </p:nvSpPr>
        <p:spPr>
          <a:xfrm>
            <a:off x="1638585" y="7324490"/>
            <a:ext cx="2891575" cy="330985"/>
          </a:xfrm>
          <a:prstGeom prst="rect">
            <a:avLst/>
          </a:prstGeom>
        </p:spPr>
        <p:txBody>
          <a:bodyPr lIns="0" tIns="0" rIns="0" bIns="0" rtlCol="0" anchor="t">
            <a:spAutoFit/>
          </a:bodyPr>
          <a:lstStyle/>
          <a:p>
            <a:pPr marL="0" lvl="0" indent="0" algn="l">
              <a:lnSpc>
                <a:spcPts val="2419"/>
              </a:lnSpc>
            </a:pPr>
            <a:r>
              <a:rPr lang="en-US" sz="2122" spc="-8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Capstone Project – 1</a:t>
            </a:r>
          </a:p>
        </p:txBody>
      </p:sp>
      <p:sp>
        <p:nvSpPr>
          <p:cNvPr id="19" name="TextBox 19"/>
          <p:cNvSpPr txBox="1"/>
          <p:nvPr/>
        </p:nvSpPr>
        <p:spPr>
          <a:xfrm>
            <a:off x="1638585" y="7992073"/>
            <a:ext cx="5248389" cy="330985"/>
          </a:xfrm>
          <a:prstGeom prst="rect">
            <a:avLst/>
          </a:prstGeom>
        </p:spPr>
        <p:txBody>
          <a:bodyPr lIns="0" tIns="0" rIns="0" bIns="0" rtlCol="0" anchor="t">
            <a:spAutoFit/>
          </a:bodyPr>
          <a:lstStyle/>
          <a:p>
            <a:pPr marL="0" lvl="0" indent="0" algn="l">
              <a:lnSpc>
                <a:spcPts val="2419"/>
              </a:lnSpc>
            </a:pPr>
            <a:r>
              <a:rPr lang="en-US" sz="2122" spc="-8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Tool Used: Tableau</a:t>
            </a:r>
          </a:p>
        </p:txBody>
      </p:sp>
      <p:sp>
        <p:nvSpPr>
          <p:cNvPr id="20" name="TextBox 20"/>
          <p:cNvSpPr txBox="1"/>
          <p:nvPr/>
        </p:nvSpPr>
        <p:spPr>
          <a:xfrm>
            <a:off x="1638585" y="8689199"/>
            <a:ext cx="4805157" cy="330985"/>
          </a:xfrm>
          <a:prstGeom prst="rect">
            <a:avLst/>
          </a:prstGeom>
        </p:spPr>
        <p:txBody>
          <a:bodyPr lIns="0" tIns="0" rIns="0" bIns="0" rtlCol="0" anchor="t">
            <a:spAutoFit/>
          </a:bodyPr>
          <a:lstStyle/>
          <a:p>
            <a:pPr marL="0" lvl="0" indent="0" algn="l">
              <a:lnSpc>
                <a:spcPts val="2419"/>
              </a:lnSpc>
            </a:pPr>
            <a:r>
              <a:rPr lang="en-US" sz="2122" spc="-8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Dataset: Food Delivery System Dataset</a:t>
            </a:r>
          </a:p>
        </p:txBody>
      </p:sp>
      <p:sp>
        <p:nvSpPr>
          <p:cNvPr id="21" name="TextBox 21"/>
          <p:cNvSpPr txBox="1"/>
          <p:nvPr/>
        </p:nvSpPr>
        <p:spPr>
          <a:xfrm>
            <a:off x="1028700" y="857250"/>
            <a:ext cx="6671890" cy="1460398"/>
          </a:xfrm>
          <a:prstGeom prst="rect">
            <a:avLst/>
          </a:prstGeom>
        </p:spPr>
        <p:txBody>
          <a:bodyPr lIns="0" tIns="0" rIns="0" bIns="0" rtlCol="0" anchor="t">
            <a:spAutoFit/>
          </a:bodyPr>
          <a:lstStyle/>
          <a:p>
            <a:pPr marL="0" lvl="0" indent="0" algn="l">
              <a:lnSpc>
                <a:spcPts val="11905"/>
              </a:lnSpc>
              <a:spcBef>
                <a:spcPct val="0"/>
              </a:spcBef>
            </a:pPr>
            <a:r>
              <a:rPr lang="en-US" sz="8504" b="1" spc="-544">
                <a:gradFill>
                  <a:gsLst>
                    <a:gs pos="0">
                      <a:srgbClr val="293E9C">
                        <a:alpha val="100000"/>
                      </a:srgbClr>
                    </a:gs>
                    <a:gs pos="100000">
                      <a:srgbClr val="3A58E4">
                        <a:alpha val="100000"/>
                      </a:srgbClr>
                    </a:gs>
                  </a:gsLst>
                  <a:path path="circle">
                    <a:fillToRect r="100000" b="100000"/>
                  </a:path>
                  <a:tileRect l="-100000" t="-100000"/>
                </a:gradFill>
                <a:latin typeface="Canva Sans Bold"/>
                <a:ea typeface="Canva Sans Bold"/>
                <a:cs typeface="Canva Sans Bold"/>
                <a:sym typeface="Canva Sans Bold"/>
              </a:rPr>
              <a:t>Thank You!</a:t>
            </a:r>
          </a:p>
        </p:txBody>
      </p:sp>
      <p:sp>
        <p:nvSpPr>
          <p:cNvPr id="22" name="TextBox 22"/>
          <p:cNvSpPr txBox="1"/>
          <p:nvPr/>
        </p:nvSpPr>
        <p:spPr>
          <a:xfrm>
            <a:off x="1028700" y="2316167"/>
            <a:ext cx="6671890" cy="3237977"/>
          </a:xfrm>
          <a:prstGeom prst="rect">
            <a:avLst/>
          </a:prstGeom>
        </p:spPr>
        <p:txBody>
          <a:bodyPr lIns="0" tIns="0" rIns="0" bIns="0" rtlCol="0" anchor="t">
            <a:spAutoFit/>
          </a:bodyPr>
          <a:lstStyle/>
          <a:p>
            <a:pPr marL="0" lvl="0" indent="0" algn="just">
              <a:lnSpc>
                <a:spcPts val="8333"/>
              </a:lnSpc>
            </a:pPr>
            <a:r>
              <a:rPr lang="en-US" sz="8504" spc="-544">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Food Delivery</a:t>
            </a:r>
          </a:p>
          <a:p>
            <a:pPr marL="0" lvl="0" indent="0" algn="just">
              <a:lnSpc>
                <a:spcPts val="8333"/>
              </a:lnSpc>
            </a:pPr>
            <a:r>
              <a:rPr lang="en-US" sz="8504" spc="-544">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System</a:t>
            </a:r>
          </a:p>
          <a:p>
            <a:pPr marL="0" lvl="0" indent="0" algn="just">
              <a:lnSpc>
                <a:spcPts val="8333"/>
              </a:lnSpc>
            </a:pPr>
            <a:r>
              <a:rPr lang="en-US" sz="8504" spc="-544">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1208</Words>
  <Application>Microsoft Office PowerPoint</Application>
  <PresentationFormat>Custom</PresentationFormat>
  <Paragraphs>127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Poppins</vt:lpstr>
      <vt:lpstr>Bricolage Grotesque</vt:lpstr>
      <vt:lpstr>Calibri</vt:lpstr>
      <vt:lpstr>Poppins Bold</vt:lpstr>
      <vt:lpstr>Arial</vt:lpstr>
      <vt:lpstr>Bricolage Grotesque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System Analysis Overview</dc:title>
  <dc:creator>Ankit Hiremath</dc:creator>
  <cp:lastModifiedBy>ankit hiremath</cp:lastModifiedBy>
  <cp:revision>3</cp:revision>
  <dcterms:created xsi:type="dcterms:W3CDTF">2006-08-16T00:00:00Z</dcterms:created>
  <dcterms:modified xsi:type="dcterms:W3CDTF">2026-07-30T04:44:07Z</dcterms:modified>
  <dc:identifier>DAHQytgTibQ</dc:identifier>
</cp:coreProperties>
</file>