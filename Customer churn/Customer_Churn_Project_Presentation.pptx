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Prepared by: Rucha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telecom customers likely to churn so the business can proactively retain them and reduce revenue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customer behavior</a:t>
            </a:r>
          </a:p>
          <a:p>
            <a:pPr>
              <a:defRPr sz="2200"/>
            </a:pPr>
            <a:r>
              <a:t>• Find churn drivers</a:t>
            </a:r>
          </a:p>
          <a:p>
            <a:pPr>
              <a:defRPr sz="2200"/>
            </a:pPr>
            <a:r>
              <a:t>• Build ML models</a:t>
            </a:r>
          </a:p>
          <a:p>
            <a:pPr>
              <a:defRPr sz="2200"/>
            </a:pPr>
            <a:r>
              <a:t>• Compare model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Telecom Customer Churn</a:t>
            </a:r>
          </a:p>
          <a:p>
            <a:pPr>
              <a:defRPr sz="2200"/>
            </a:pPr>
            <a:r>
              <a:t>• ~7,000 records</a:t>
            </a:r>
          </a:p>
          <a:p>
            <a:pPr>
              <a:defRPr sz="2200"/>
            </a:pPr>
            <a:r>
              <a:t>• Demographics, services, billing, tenure</a:t>
            </a:r>
          </a:p>
          <a:p>
            <a:pPr>
              <a:defRPr sz="2200"/>
            </a:pPr>
            <a:r>
              <a:t>• Target: Churn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Collection → Cleaning → EDA → Encoding → Scaling → SMOTE → ML Models →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Internet Service</a:t>
            </a:r>
          </a:p>
          <a:p>
            <a:pPr>
              <a:defRPr sz="2200"/>
            </a:pPr>
            <a:r>
              <a:t>• Contract</a:t>
            </a:r>
          </a:p>
          <a:p>
            <a:pPr>
              <a:defRPr sz="2200"/>
            </a:pPr>
            <a:r>
              <a:t>• Payment Method</a:t>
            </a:r>
          </a:p>
          <a:p>
            <a:pPr>
              <a:defRPr sz="2200"/>
            </a:pPr>
            <a:r>
              <a:t>• Monthly Charges</a:t>
            </a:r>
          </a:p>
          <a:p>
            <a:pPr>
              <a:defRPr sz="2200"/>
            </a:pPr>
            <a:r>
              <a:t>• Tenure</a:t>
            </a:r>
          </a:p>
          <a:p>
            <a:pPr>
              <a:defRPr sz="2200"/>
            </a:pPr>
            <a:r>
              <a:t>• Tech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Missing values</a:t>
            </a:r>
          </a:p>
          <a:p>
            <a:pPr>
              <a:defRPr sz="2200"/>
            </a:pPr>
            <a:r>
              <a:t>• Encoding</a:t>
            </a:r>
          </a:p>
          <a:p>
            <a:pPr>
              <a:defRPr sz="2200"/>
            </a:pPr>
            <a:r>
              <a:t>• Feature Scaling</a:t>
            </a:r>
          </a:p>
          <a:p>
            <a:pPr>
              <a:defRPr sz="2200"/>
            </a:pPr>
            <a:r>
              <a:t>• Train/Test Split</a:t>
            </a:r>
          </a:p>
          <a:p>
            <a:pPr>
              <a:defRPr sz="2200"/>
            </a:pPr>
            <a:r>
              <a:t>• SMOTE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Logistic Regression</a:t>
            </a:r>
          </a:p>
          <a:p>
            <a:pPr>
              <a:defRPr sz="2200"/>
            </a:pPr>
            <a:r>
              <a:t>• Decision Tree</a:t>
            </a:r>
          </a:p>
          <a:p>
            <a:pPr>
              <a:defRPr sz="2200"/>
            </a:pPr>
            <a:r>
              <a:t>• Random Forest</a:t>
            </a:r>
          </a:p>
          <a:p>
            <a:pPr>
              <a:defRPr sz="2200"/>
            </a:pPr>
            <a:r>
              <a:t>• XGBoost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</a:t>
            </a:r>
          </a:p>
          <a:p>
            <a:pPr>
              <a:defRPr sz="2200"/>
            </a:pPr>
            <a:r>
              <a:t>Precision</a:t>
            </a:r>
          </a:p>
          <a:p>
            <a:pPr>
              <a:defRPr sz="2200"/>
            </a:pPr>
            <a:r>
              <a:t>Recall</a:t>
            </a:r>
          </a:p>
          <a:p>
            <a:pPr>
              <a:defRPr sz="2200"/>
            </a:pPr>
            <a:r>
              <a:t>F1-Score</a:t>
            </a:r>
          </a:p>
          <a:p>
            <a:pPr>
              <a:defRPr sz="2200"/>
            </a:pPr>
            <a:r>
              <a:t>Confusion Matrix</a:t>
            </a:r>
          </a:p>
          <a:p>
            <a:pPr>
              <a:defRPr sz="2200"/>
            </a:pPr>
            <a:r>
              <a:t>ROC-AUC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Month-to-month contracts churn more.</a:t>
            </a:r>
          </a:p>
          <a:p>
            <a:pPr>
              <a:defRPr sz="2200"/>
            </a:pPr>
            <a:r>
              <a:t>• High monthly charges increase churn.</a:t>
            </a:r>
          </a:p>
          <a:p>
            <a:pPr>
              <a:defRPr sz="2200"/>
            </a:pPr>
            <a:r>
              <a:t>• Tech Support &amp; Online Security reduce churn.</a:t>
            </a:r>
          </a:p>
          <a:p>
            <a:pPr>
              <a:defRPr sz="2200"/>
            </a:pPr>
            <a:r>
              <a:t>• Long-tenure customers are more loyal.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sz="2200" dirty="0"/>
              <a:t>Random Forest achieved the highest ROC-AUC score (0.8224), showing the best ability to distinguish between churners and non-churners. </a:t>
            </a:r>
          </a:p>
          <a:p>
            <a:pPr>
              <a:defRPr sz="2200"/>
            </a:pPr>
            <a:endParaRPr lang="en-IN" sz="2200" dirty="0"/>
          </a:p>
          <a:p>
            <a:pPr>
              <a:defRPr sz="2200"/>
            </a:pPr>
            <a:r>
              <a:rPr lang="en-IN" sz="2200" dirty="0" err="1"/>
              <a:t>XGBoost</a:t>
            </a:r>
            <a:r>
              <a:rPr lang="en-IN" sz="2200" dirty="0"/>
              <a:t> was a close second with 0.8167, also demonstrating excellent classification performance. Both ensemble models significantly outperformed the single Decision Tree model in terms of ROC-AUC.</a:t>
            </a:r>
          </a:p>
          <a:p>
            <a:pPr>
              <a:defRPr sz="2200"/>
            </a:pPr>
            <a:endParaRPr lang="en-IN" sz="2200" dirty="0"/>
          </a:p>
          <a:p>
            <a:pPr>
              <a:defRPr sz="2200"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71169F-D015-78BC-5E88-C27927600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625"/>
              </p:ext>
            </p:extLst>
          </p:nvPr>
        </p:nvGraphicFramePr>
        <p:xfrm>
          <a:off x="457200" y="4551452"/>
          <a:ext cx="8229599" cy="1933081"/>
        </p:xfrm>
        <a:graphic>
          <a:graphicData uri="http://schemas.openxmlformats.org/drawingml/2006/table">
            <a:tbl>
              <a:tblPr/>
              <a:tblGrid>
                <a:gridCol w="1175657">
                  <a:extLst>
                    <a:ext uri="{9D8B030D-6E8A-4147-A177-3AD203B41FA5}">
                      <a16:colId xmlns:a16="http://schemas.microsoft.com/office/drawing/2014/main" val="194005448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8691862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0206372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30129042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60769866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87063017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676635480"/>
                    </a:ext>
                  </a:extLst>
                </a:gridCol>
              </a:tblGrid>
              <a:tr h="49886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br>
                        <a:rPr lang="en-IN" sz="900" b="1" i="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</a:br>
                      <a:r>
                        <a:rPr lang="en-IN" sz="900" b="1" i="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01138199"/>
                  </a:ext>
                </a:extLst>
              </a:tr>
              <a:tr h="49886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0.7357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0.5017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0.7888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0.6133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091720"/>
                  </a:ext>
                </a:extLst>
              </a:tr>
              <a:tr h="311787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0.7072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0.4578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0.5508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0.6573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72457"/>
                  </a:ext>
                </a:extLst>
              </a:tr>
              <a:tr h="311787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0.7740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0.5700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0.6096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0.5891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0.8224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627126"/>
                  </a:ext>
                </a:extLst>
              </a:tr>
              <a:tr h="311787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0.7839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0.5888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0.6203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0.6042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900" b="0" i="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0.8167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2406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Customer churn prediction helps target retention campaigns, reduce customer loss and improve profitability.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277</Words>
  <Application>Microsoft Office PowerPoint</Application>
  <PresentationFormat>On-screen Show (4:3)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Helvetica Neue</vt:lpstr>
      <vt:lpstr>Office Theme</vt:lpstr>
      <vt:lpstr>Customer Churn Prediction</vt:lpstr>
      <vt:lpstr>Problem Statement</vt:lpstr>
      <vt:lpstr>Objectives</vt:lpstr>
      <vt:lpstr>Dataset</vt:lpstr>
      <vt:lpstr>Workflow</vt:lpstr>
      <vt:lpstr>EDA Highlights</vt:lpstr>
      <vt:lpstr>Preprocessing</vt:lpstr>
      <vt:lpstr>Models</vt:lpstr>
      <vt:lpstr>Evaluation</vt:lpstr>
      <vt:lpstr>Business Insights</vt:lpstr>
      <vt:lpstr>Best Model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 hiremath</cp:lastModifiedBy>
  <cp:revision>4</cp:revision>
  <dcterms:created xsi:type="dcterms:W3CDTF">2013-01-27T09:14:16Z</dcterms:created>
  <dcterms:modified xsi:type="dcterms:W3CDTF">2026-07-25T06:34:13Z</dcterms:modified>
  <cp:category/>
</cp:coreProperties>
</file>