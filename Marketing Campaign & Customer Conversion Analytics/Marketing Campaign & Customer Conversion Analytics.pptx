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</ns0:sldIdLst>
  <ns0:sldSz cx="12192000" cy="6858000" type="screen4x3"/>
  <ns0:notesSz cx="6858000" cy="9144000"/>
  <ns0:embeddedFontLst>
    <ns0:embeddedFont>
      <ns0:font typeface="Inter"/>
      <ns0:bold ns1:id="rIdFont13"/>
      <ns0:regular ns1:id="rIdFont14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Font13" Type="http://schemas.openxmlformats.org/officeDocument/2006/relationships/font" Target="fonts/f1670beb-1765-4f53-aa3c-b272db8efac3.fntdata" /><ns0:Relationship Id="rIdFont14" Type="http://schemas.openxmlformats.org/officeDocument/2006/relationships/font" Target="fonts/e67631d0-8d1c-4988-9fce-8b1026b24ff7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63367"/>
            <a:ext cx="5334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256532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Inter"/>
              </a:rPr>
              <a:t>EXECUTIVE BI PORTFOLIO PROJECT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570857"/>
            <a:ext cx="8601075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F8FAFC"/>
                </a:solidFill>
                <a:latin typeface="Inter"/>
              </a:rPr>
              <a:t>Marketing Campaign &amp; Customer Conversion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858517"/>
            <a:ext cx="6286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4A3B8"/>
                </a:solidFill>
                <a:latin typeface="Inter"/>
              </a:rPr>
              <a:t>End-to-end data pipeline, MySQL star schema modeling, and multi-page Power BI executive reporting.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791200"/>
            <a:ext cx="10972800" cy="533400"/>
          </a:xfrm>
          <a:prstGeom prst="roundRect">
            <a:avLst>
              <a:gd name="adj" fmla="val 14285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767012"/>
            <a:ext cx="5334000" cy="1466850"/>
          </a:xfrm>
          <a:prstGeom prst="roundRect">
            <a:avLst>
              <a:gd name="adj" fmla="val 779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48400" y="2767012"/>
            <a:ext cx="5334000" cy="1466850"/>
          </a:xfrm>
          <a:prstGeom prst="roundRect">
            <a:avLst>
              <a:gd name="adj" fmla="val 779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2767012"/>
            <a:ext cx="38100" cy="14668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48400" y="2767012"/>
            <a:ext cx="38100" cy="14668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BUSINESS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6200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The Challenge of Disparate Marketing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5962650"/>
            <a:ext cx="113538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369A1"/>
                </a:solidFill>
                <a:latin typeface="Inter"/>
              </a:rPr>
              <a:t>Objective:</a:t>
            </a:r>
            <a:r>
              <a:rPr b="0" sz="1200" i="0" u="none">
                <a:solidFill>
                  <a:srgbClr val="0369A1"/>
                </a:solidFill>
                <a:latin typeface="Inter"/>
              </a:rPr>
              <a:t> Deploy an automated data architecture and interactive BI dashboards to optimize marketing ROI.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3071812"/>
            <a:ext cx="615076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Fragmented Channels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3414712"/>
            <a:ext cx="47815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Data silos across ad spend, lead generation, and customer conversions hinder real-time tracking.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1300" y="3071812"/>
            <a:ext cx="56007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Manual Inefficiencies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1300" y="3414712"/>
            <a:ext cx="47815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Manual campaign aggregation causes delayed decision-making and poor budget allocation.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28937"/>
            <a:ext cx="3505200" cy="1714500"/>
          </a:xfrm>
          <a:prstGeom prst="roundRect">
            <a:avLst>
              <a:gd name="adj" fmla="val 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28937"/>
            <a:ext cx="3505200" cy="1714500"/>
          </a:xfrm>
          <a:prstGeom prst="roundRect">
            <a:avLst>
              <a:gd name="adj" fmla="val 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28937"/>
            <a:ext cx="3505200" cy="1714500"/>
          </a:xfrm>
          <a:prstGeom prst="roundRect">
            <a:avLst>
              <a:gd name="adj" fmla="val 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850" y="3224212"/>
            <a:ext cx="2667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4550" y="3224212"/>
            <a:ext cx="3429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3224212"/>
            <a:ext cx="2286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2214562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Data Architecture &amp; Tech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956" y="3719512"/>
            <a:ext cx="39004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MySQL Database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825" y="3995737"/>
            <a:ext cx="37147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Inter"/>
              </a:rPr>
              <a:t>Star schema staging with lead_fact &amp; campaign_dimension.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45756" y="3719512"/>
            <a:ext cx="39004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Power Query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38625" y="3995737"/>
            <a:ext cx="37147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Inter"/>
              </a:rPr>
              <a:t>Header promotion, type casting, and schema structuring.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9556" y="3719512"/>
            <a:ext cx="39004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DAX Measures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2425" y="3995737"/>
            <a:ext cx="37147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Inter"/>
              </a:rPr>
              <a:t>Advanced formulas for spend, revenue, and conversion rate.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62287"/>
            <a:ext cx="2514600" cy="14859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29000" y="3062287"/>
            <a:ext cx="2514600" cy="14859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48400" y="3062287"/>
            <a:ext cx="2514600" cy="14859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67800" y="3062287"/>
            <a:ext cx="2514600" cy="14859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2309812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Executive KPI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5775" y="3367087"/>
            <a:ext cx="2762250" cy="600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900" i="0" u="none">
                <a:solidFill>
                  <a:srgbClr val="0284C7"/>
                </a:solidFill>
                <a:latin typeface="Inter"/>
              </a:rPr>
              <a:t>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5775" y="4043362"/>
            <a:ext cx="2762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334155"/>
                </a:solidFill>
                <a:latin typeface="Inter"/>
              </a:rPr>
              <a:t>Total Leads Captured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05175" y="3367087"/>
            <a:ext cx="2762250" cy="600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900" i="0" u="none">
                <a:solidFill>
                  <a:srgbClr val="0284C7"/>
                </a:solidFill>
                <a:latin typeface="Inter"/>
              </a:rPr>
              <a:t>87.96K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05175" y="4043362"/>
            <a:ext cx="2762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334155"/>
                </a:solidFill>
                <a:latin typeface="Inter"/>
              </a:rPr>
              <a:t>Total Ad Spend ($)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4575" y="3367087"/>
            <a:ext cx="2762250" cy="600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900" i="0" u="none">
                <a:solidFill>
                  <a:srgbClr val="0284C7"/>
                </a:solidFill>
                <a:latin typeface="Inter"/>
              </a:rPr>
              <a:t>92.06K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4575" y="4043362"/>
            <a:ext cx="2762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334155"/>
                </a:solidFill>
                <a:latin typeface="Inter"/>
              </a:rPr>
              <a:t>Total Revenue ($)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43975" y="3367087"/>
            <a:ext cx="2762250" cy="600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900" i="0" u="none">
                <a:solidFill>
                  <a:srgbClr val="0284C7"/>
                </a:solidFill>
                <a:latin typeface="Inter"/>
              </a:rPr>
              <a:t>27.60%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43975" y="4043362"/>
            <a:ext cx="2762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334155"/>
                </a:solidFill>
                <a:latin typeface="Inter"/>
              </a:rPr>
              <a:t>Conversion Rate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95587"/>
            <a:ext cx="5334000" cy="194310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795587"/>
            <a:ext cx="5334000" cy="194310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2119312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Power BI Multi-Page Report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0387"/>
            <a:ext cx="62007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Inter"/>
              </a:rPr>
              <a:t>Page 1: 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43287"/>
            <a:ext cx="59055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• Top banner with 4 KPI summary cards.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09987"/>
            <a:ext cx="59055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• Clustered Column Chart: Revenue by Channel.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76687"/>
            <a:ext cx="59055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• Clustered Column Chart: Ad Spend by Channel.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43387"/>
            <a:ext cx="59055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• Interactive vertical list slicer for channel filtering.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200" y="3100387"/>
            <a:ext cx="5638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Inter"/>
              </a:rPr>
              <a:t>Page 2: Channel Distribution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200" y="3443287"/>
            <a:ext cx="56388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• Donut Chart: Revenue Share by Marketing Channel.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200" y="3709987"/>
            <a:ext cx="56388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• Donut Chart: Ad Spend Share by Marketing Channel.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200" y="3976687"/>
            <a:ext cx="56388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• Horizontal Bar Chart: Lead Volume by Channel.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381000" y="2422326"/>
            <a:ext cx="12954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8BDF8"/>
                </a:solidFill>
                <a:latin typeface="Inter"/>
              </a:rPr>
              <a:t>PROJECT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5375" y="2736651"/>
            <a:ext cx="10001250" cy="959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b="1" sz="3150" i="0" u="none">
                <a:solidFill>
                  <a:srgbClr val="F8FAFC"/>
                </a:solidFill>
                <a:latin typeface="Inter"/>
              </a:rPr>
              <a:t>Empowering Data-Driven Marketing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8812" y="3887092"/>
            <a:ext cx="83343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Provides stakeholders with instant visibility into campaign performance, enabling optimal resource allocation and high-ROAS strategy execution.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