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f556a47f-efa2-4b1e-bb12-4663c15fd177.fntdata" /><ns0:Relationship Id="rIdFont13" Type="http://schemas.openxmlformats.org/officeDocument/2006/relationships/font" Target="fonts/2fbf0ad8-09b8-4351-afde-7ef335fb016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63367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5653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EXECUTIVE BI PORTFOLIO 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70857"/>
            <a:ext cx="86010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Supply Chain &amp; Logistics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58517"/>
            <a:ext cx="6286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Real-time operational visibility, fulfillment tracking, and carrier performance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91200"/>
            <a:ext cx="10972800" cy="533400"/>
          </a:xfrm>
          <a:prstGeom prst="roundRect">
            <a:avLst>
              <a:gd name="adj" fmla="val 14285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7012"/>
            <a:ext cx="53340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67012"/>
            <a:ext cx="53340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67012"/>
            <a:ext cx="38100" cy="1466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767012"/>
            <a:ext cx="38100" cy="1466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OPERATIONAL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Overcoming Supply Chain Blind 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96265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Objective:</a:t>
            </a:r>
            <a:r>
              <a:rPr b="0" sz="1200" i="0" u="none">
                <a:solidFill>
                  <a:srgbClr val="0369A1"/>
                </a:solidFill>
                <a:latin typeface="Inter"/>
              </a:rPr>
              <a:t> Build an executive Control Tower dashboard to monitor OTIF rates and carrier SLAs in real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71812"/>
            <a:ext cx="6150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Fulfillment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414712"/>
            <a:ext cx="4781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Lack of real-time tracking across warehouses and carriers results in delivery bottlenecks.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071812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Escalating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414712"/>
            <a:ext cx="4781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Unmonitored freight variances and stockouts drive up operational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6062"/>
            <a:ext cx="25146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9000" y="2786062"/>
            <a:ext cx="25146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86062"/>
            <a:ext cx="25146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67800" y="2786062"/>
            <a:ext cx="2514600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33587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Key Logistics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090862"/>
            <a:ext cx="27622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Inter"/>
              </a:rPr>
              <a:t>OTIF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3652837"/>
            <a:ext cx="276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On-Time In-Full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5175" y="3090862"/>
            <a:ext cx="27622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Inter"/>
              </a:rPr>
              <a:t>Freight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5175" y="4138612"/>
            <a:ext cx="276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Cumulative Carrier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575" y="3090862"/>
            <a:ext cx="27622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Inter"/>
              </a:rPr>
              <a:t>Transit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4575" y="4138612"/>
            <a:ext cx="276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Average Dispatch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3975" y="3090862"/>
            <a:ext cx="27622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Inter"/>
              </a:rPr>
              <a:t>Stockout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3975" y="4138612"/>
            <a:ext cx="2762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Inventory Depletion Frequency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182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7182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7182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4955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Control Tower Dashboard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38525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Summary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147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Top-level KPIs for instant operational health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438525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Shipment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7147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Donut charts tracking in-transit, delayed, and delivered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438525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Carrier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714750"/>
            <a:ext cx="3067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Cost vs. on-time delivery benchmarks across logistics partners.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2662237"/>
            <a:ext cx="1295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BUSINESS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1700" y="2976562"/>
            <a:ext cx="8788598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F8FAFC"/>
                </a:solidFill>
                <a:latin typeface="Inter"/>
              </a:rPr>
              <a:t>Proactive Supply Chain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647033"/>
            <a:ext cx="8334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Empowers logistics leaders to handle exceptions proactively, negotiate better carrier contracts, and ensure flawless customer fulfillment.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